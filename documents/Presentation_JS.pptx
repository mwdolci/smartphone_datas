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2"/>
    <p:sldId id="276" r:id="rId3"/>
    <p:sldId id="285" r:id="rId4"/>
    <p:sldId id="278" r:id="rId5"/>
    <p:sldId id="280" r:id="rId6"/>
    <p:sldId id="290" r:id="rId7"/>
    <p:sldId id="286" r:id="rId8"/>
    <p:sldId id="279" r:id="rId9"/>
    <p:sldId id="287" r:id="rId10"/>
    <p:sldId id="289" r:id="rId11"/>
    <p:sldId id="288" r:id="rId12"/>
    <p:sldId id="28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37"/>
    <a:srgbClr val="10B3F0"/>
    <a:srgbClr val="E24B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65" autoAdjust="0"/>
    <p:restoredTop sz="73757" autoAdjust="0"/>
  </p:normalViewPr>
  <p:slideViewPr>
    <p:cSldViewPr snapToGrid="0">
      <p:cViewPr varScale="1">
        <p:scale>
          <a:sx n="61" d="100"/>
          <a:sy n="61" d="100"/>
        </p:scale>
        <p:origin x="115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39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5FD8FE3-F33C-75A0-0B69-108A95247A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5FCB112-0314-5211-1F3D-927604781F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A8F36-A643-4FAA-8649-965D6B1446A9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650E839-AFFD-7A9F-3E44-FF29D2A811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D606E0-E499-5B15-B3C0-F46344FA09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2DC3F-BC86-4D62-A1A5-74F2A0EE5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741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6FC83-ED93-4984-B7AA-3DB9F84FF409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3B15-6AAF-48C6-8ACB-6499FA667B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5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fr-CH" b="1" dirty="0">
                <a:effectLst/>
              </a:rPr>
              <a:t>Introduction (MD)</a:t>
            </a:r>
          </a:p>
          <a:p>
            <a:pPr marL="0" indent="0">
              <a:buNone/>
            </a:pPr>
            <a:endParaRPr lang="fr-CH" b="1" dirty="0">
              <a:effectLst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Pouvoir centraliser et visualiser toutes les données du smartphone d’une personne qui se trouverai dans une situation extrême. (impossible de l’accompagner)</a:t>
            </a:r>
            <a:endParaRPr lang="fr-C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43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2. Exemples de besoins couverts (MD)</a:t>
            </a:r>
          </a:p>
          <a:p>
            <a:endParaRPr lang="fr-CH" b="1" dirty="0">
              <a:effectLst/>
            </a:endParaRPr>
          </a:p>
          <a:p>
            <a:r>
              <a:rPr lang="fr-CH" dirty="0">
                <a:effectLst/>
              </a:rPr>
              <a:t>Le POURQUOI du projet! 4 cas concrets</a:t>
            </a:r>
          </a:p>
          <a:p>
            <a:pPr marL="171450" indent="-171450">
              <a:buFontTx/>
              <a:buChar char="-"/>
            </a:pPr>
            <a:r>
              <a:rPr lang="fr-CH" dirty="0">
                <a:effectLst/>
              </a:rPr>
              <a:t>Le pilote de moto que je ne vois que 10 secondes sur 3minutes</a:t>
            </a:r>
          </a:p>
          <a:p>
            <a:pPr marL="171450" indent="-171450">
              <a:buFontTx/>
              <a:buChar char="-"/>
            </a:pPr>
            <a:r>
              <a:rPr lang="fr-CH" dirty="0">
                <a:effectLst/>
              </a:rPr>
              <a:t>Le parapentiste remorqué que je ne retrouve plus une fois atterri</a:t>
            </a:r>
          </a:p>
          <a:p>
            <a:pPr marL="171450" indent="-171450">
              <a:buFontTx/>
              <a:buChar char="-"/>
            </a:pPr>
            <a:r>
              <a:rPr lang="fr-CH" dirty="0">
                <a:effectLst/>
              </a:rPr>
              <a:t>Le skipper parti en mer pendant plusieurs semaines sans nouvelle</a:t>
            </a:r>
          </a:p>
          <a:p>
            <a:pPr marL="171450" indent="-171450">
              <a:buFontTx/>
              <a:buChar char="-"/>
            </a:pPr>
            <a:r>
              <a:rPr lang="fr-CH" dirty="0">
                <a:effectLst/>
              </a:rPr>
              <a:t>Le skieur que je souhaite retrouver pour partager un verre à la buvette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endParaRPr lang="fr-CH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589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3. Concept du projet (MD)</a:t>
            </a:r>
          </a:p>
          <a:p>
            <a:endParaRPr lang="fr-CH" b="1" dirty="0">
              <a:effectLst/>
            </a:endParaRPr>
          </a:p>
          <a:p>
            <a:r>
              <a:rPr lang="fr-CH" dirty="0">
                <a:effectLst/>
              </a:rPr>
              <a:t>Ce slide résume le cœur du projet : </a:t>
            </a:r>
          </a:p>
          <a:p>
            <a:r>
              <a:rPr lang="fr-CH" dirty="0">
                <a:effectLst/>
              </a:rPr>
              <a:t>	collecter les données des capteurs d’un smartphone Android et les transmettre en temps réel vers une interface web. </a:t>
            </a:r>
          </a:p>
          <a:p>
            <a:r>
              <a:rPr lang="fr-CH" dirty="0">
                <a:effectLst/>
              </a:rPr>
              <a:t>	L’utilisateur appuie sur ‘START’ sur le téléphone, et les données </a:t>
            </a:r>
          </a:p>
          <a:p>
            <a:r>
              <a:rPr lang="fr-CH" dirty="0">
                <a:effectLst/>
              </a:rPr>
              <a:t>		— GPS, orientation, micro, caméra, etc. </a:t>
            </a:r>
          </a:p>
          <a:p>
            <a:r>
              <a:rPr lang="fr-CH" dirty="0">
                <a:effectLst/>
              </a:rPr>
              <a:t>		— sont envoyées via WebSocket à notre serveur Node.js hébergé sur Render.com.. 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Ensuite, elles sont affichées sous forme de widgets dans notre cockpit de supervision. 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Ce concept nous permet de suivre des activités mobiles à distance, avec une interface claire, modulaire et réactive.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561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4. Architecture générale (CD)</a:t>
            </a:r>
          </a:p>
          <a:p>
            <a:endParaRPr lang="fr-CH" b="1" dirty="0">
              <a:effectLst/>
            </a:endParaRPr>
          </a:p>
          <a:p>
            <a:r>
              <a:rPr lang="fr-CH" dirty="0">
                <a:effectLst/>
              </a:rPr>
              <a:t>Voici le schéma global.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Le smartphone envoie ses données capteurs via </a:t>
            </a:r>
            <a:r>
              <a:rPr lang="fr-CH" dirty="0" err="1">
                <a:effectLst/>
              </a:rPr>
              <a:t>WebSocket</a:t>
            </a:r>
            <a:r>
              <a:rPr lang="fr-CH" dirty="0">
                <a:effectLst/>
              </a:rPr>
              <a:t> </a:t>
            </a:r>
          </a:p>
          <a:p>
            <a:r>
              <a:rPr lang="fr-CH" dirty="0">
                <a:effectLst/>
              </a:rPr>
              <a:t>à un serveur Node.js hébergé sur Render.com. 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Ce serveur les transmet ensuite à notre interface cockpit, </a:t>
            </a:r>
          </a:p>
          <a:p>
            <a:r>
              <a:rPr lang="fr-CH" dirty="0">
                <a:effectLst/>
              </a:rPr>
              <a:t>qui les affiche en temps réel sous forme de widgets visuels.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Certain widgets utilisent des API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Le flux vidéo passe par </a:t>
            </a:r>
            <a:r>
              <a:rPr lang="fr-CH" dirty="0" err="1">
                <a:effectLst/>
              </a:rPr>
              <a:t>WebRTC</a:t>
            </a:r>
            <a:r>
              <a:rPr lang="fr-CH" dirty="0">
                <a:effectLst/>
              </a:rPr>
              <a:t> (peu de latence)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5901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5. Organisation du projet (CD)</a:t>
            </a:r>
          </a:p>
          <a:p>
            <a:endParaRPr lang="fr-CH" b="1" dirty="0">
              <a:effectLst/>
            </a:endParaRPr>
          </a:p>
          <a:p>
            <a:r>
              <a:rPr lang="fr-CH" dirty="0">
                <a:effectLst/>
              </a:rPr>
              <a:t>Notre projet est structuré en modules :</a:t>
            </a:r>
          </a:p>
          <a:p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cockpit/ contient les widgets et le code d’affichage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server/ gère les connexions </a:t>
            </a:r>
            <a:r>
              <a:rPr lang="fr-CH" dirty="0" err="1">
                <a:effectLst/>
              </a:rPr>
              <a:t>WebSocket</a:t>
            </a: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smartphone/ contient le code embarqué côté mobile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documents/ contient la documentation du projet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856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6. Technologies utilisées  (CD)</a:t>
            </a:r>
          </a:p>
          <a:p>
            <a:endParaRPr lang="fr-CH" b="1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dirty="0">
                <a:effectLst/>
              </a:rPr>
              <a:t>Ce schéma illustre le flux global des données.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dirty="0">
                <a:effectLst/>
              </a:rPr>
              <a:t>Les composants techniques (</a:t>
            </a:r>
            <a:r>
              <a:rPr lang="fr-CH" dirty="0" err="1">
                <a:effectLst/>
              </a:rPr>
              <a:t>WebSocket</a:t>
            </a:r>
            <a:r>
              <a:rPr lang="fr-CH" dirty="0">
                <a:effectLst/>
              </a:rPr>
              <a:t>, </a:t>
            </a:r>
            <a:r>
              <a:rPr lang="fr-CH" dirty="0" err="1">
                <a:effectLst/>
              </a:rPr>
              <a:t>WebRTC</a:t>
            </a:r>
            <a:r>
              <a:rPr lang="fr-CH" dirty="0">
                <a:effectLst/>
              </a:rPr>
              <a:t>, Node.js,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dirty="0">
                <a:effectLst/>
              </a:rPr>
              <a:t>Render.com) seront expliqués en détail dans la section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/>
              <a:t>Points positifs du projet</a:t>
            </a:r>
            <a:r>
              <a:rPr lang="fr-CH" dirty="0">
                <a:effectLst/>
              </a:rPr>
              <a:t>.</a:t>
            </a:r>
          </a:p>
          <a:p>
            <a:endParaRPr lang="fr-CH" b="1" dirty="0">
              <a:effectLst/>
            </a:endParaRPr>
          </a:p>
          <a:p>
            <a:r>
              <a:rPr lang="fr-CH" dirty="0"/>
              <a:t>Le projet utilise également :</a:t>
            </a:r>
          </a:p>
          <a:p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b="1" dirty="0">
                <a:effectLst/>
              </a:rPr>
              <a:t> JavaScript</a:t>
            </a:r>
            <a:r>
              <a:rPr lang="fr-CH" dirty="0">
                <a:effectLst/>
              </a:rPr>
              <a:t> : langage principal pour le traitement des données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fr-CH" dirty="0">
                <a:effectLst/>
              </a:rPr>
              <a:t>   et l’interaction en temps réel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b="1" dirty="0">
                <a:effectLst/>
              </a:rPr>
              <a:t> HTML5 / CSS3</a:t>
            </a:r>
            <a:r>
              <a:rPr lang="fr-CH" dirty="0">
                <a:effectLst/>
              </a:rPr>
              <a:t> : structure et mise en forme de l’interface web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b="1" dirty="0">
                <a:effectLst/>
              </a:rPr>
              <a:t> Git / GitHub</a:t>
            </a:r>
            <a:r>
              <a:rPr lang="fr-CH" dirty="0">
                <a:effectLst/>
              </a:rPr>
              <a:t> : gestion du code, </a:t>
            </a:r>
            <a:r>
              <a:rPr lang="fr-CH" dirty="0" err="1">
                <a:effectLst/>
              </a:rPr>
              <a:t>versionnement</a:t>
            </a:r>
            <a:r>
              <a:rPr lang="fr-CH" dirty="0">
                <a:effectLst/>
              </a:rPr>
              <a:t> et collaboration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b="1" dirty="0">
                <a:effectLst/>
              </a:rPr>
              <a:t> GitHub Pages</a:t>
            </a:r>
            <a:r>
              <a:rPr lang="fr-CH" dirty="0">
                <a:effectLst/>
              </a:rPr>
              <a:t> : hébergement gratuit du cockpit en ligne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CH" b="1" dirty="0">
                <a:effectLst/>
              </a:rPr>
              <a:t> Smartphone Android</a:t>
            </a:r>
            <a:r>
              <a:rPr lang="fr-CH" dirty="0">
                <a:effectLst/>
              </a:rPr>
              <a:t> : source des capteurs (GPS, gyroscope, etc.)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fr-CH" dirty="0">
                <a:effectLst/>
              </a:rPr>
              <a:t>   accessibles via navigateur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H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76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b="1" dirty="0">
                <a:effectLst/>
              </a:rPr>
              <a:t>7. Exemple de widget : (CHACUN SES WIDGETS)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b="1" dirty="0">
              <a:effectLst/>
            </a:endParaRPr>
          </a:p>
          <a:p>
            <a:r>
              <a:rPr lang="fr-CH" b="0" dirty="0">
                <a:effectLst/>
              </a:rPr>
              <a:t>    </a:t>
            </a:r>
            <a:r>
              <a:rPr lang="fr-CH" dirty="0">
                <a:effectLst/>
              </a:rPr>
              <a:t>Voici le widget boussole: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        Il utilise les angles d’Euler (alpha, beta, gamma) </a:t>
            </a:r>
          </a:p>
          <a:p>
            <a:r>
              <a:rPr lang="fr-CH" dirty="0">
                <a:effectLst/>
              </a:rPr>
              <a:t>        pour calculer le </a:t>
            </a:r>
            <a:r>
              <a:rPr lang="fr-CH" dirty="0" err="1">
                <a:effectLst/>
              </a:rPr>
              <a:t>heading</a:t>
            </a:r>
            <a:r>
              <a:rPr lang="fr-CH" dirty="0">
                <a:effectLst/>
              </a:rPr>
              <a:t>.  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        On applique un filtre LPF et une interpolation </a:t>
            </a:r>
          </a:p>
          <a:p>
            <a:r>
              <a:rPr lang="fr-CH" dirty="0">
                <a:effectLst/>
              </a:rPr>
              <a:t>        </a:t>
            </a:r>
            <a:r>
              <a:rPr lang="fr-CH" dirty="0" err="1">
                <a:effectLst/>
              </a:rPr>
              <a:t>shortest‑path</a:t>
            </a:r>
            <a:r>
              <a:rPr lang="fr-CH" dirty="0">
                <a:effectLst/>
              </a:rPr>
              <a:t> pour éviter les sauts brusques à ±180°. </a:t>
            </a:r>
          </a:p>
          <a:p>
            <a:endParaRPr lang="fr-CH" dirty="0">
              <a:effectLst/>
            </a:endParaRP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    Le widget carte utilise Leaflet: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        À chaque position GPS reçue, on met à jour le marqueur </a:t>
            </a:r>
          </a:p>
          <a:p>
            <a:r>
              <a:rPr lang="fr-CH" dirty="0">
                <a:effectLst/>
              </a:rPr>
              <a:t>        et on trace le chemin parcouru. </a:t>
            </a: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       On peut aussi recentrer la carte ou réinitialiser le tracé. </a:t>
            </a:r>
          </a:p>
          <a:p>
            <a:r>
              <a:rPr lang="fr-CH" dirty="0">
                <a:effectLst/>
              </a:rPr>
              <a:t>       C’est utile pour suivre un déplacement en montagne ou en mer.</a:t>
            </a:r>
          </a:p>
          <a:p>
            <a:endParaRPr lang="fr-CH" dirty="0">
              <a:effectLst/>
            </a:endParaRPr>
          </a:p>
          <a:p>
            <a:endParaRPr lang="fr-CH" dirty="0">
              <a:effectLst/>
            </a:endParaRPr>
          </a:p>
          <a:p>
            <a:r>
              <a:rPr lang="fr-CH" dirty="0">
                <a:effectLst/>
              </a:rPr>
              <a:t>    Le widget horloge:</a:t>
            </a:r>
          </a:p>
          <a:p>
            <a:r>
              <a:rPr lang="fr-CH" dirty="0">
                <a:effectLst/>
              </a:rPr>
              <a:t>        </a:t>
            </a:r>
          </a:p>
          <a:p>
            <a:r>
              <a:rPr lang="fr-CH" dirty="0">
                <a:effectLst/>
              </a:rPr>
              <a:t>        Reçoit l’heure locale du smartphone et l’affiche en temps réel. </a:t>
            </a:r>
          </a:p>
          <a:p>
            <a:r>
              <a:rPr lang="fr-CH" dirty="0">
                <a:effectLst/>
              </a:rPr>
              <a:t>        On utilise un </a:t>
            </a:r>
            <a:r>
              <a:rPr lang="fr-CH" dirty="0" err="1">
                <a:effectLst/>
              </a:rPr>
              <a:t>canvas</a:t>
            </a:r>
            <a:r>
              <a:rPr lang="fr-CH" dirty="0">
                <a:effectLst/>
              </a:rPr>
              <a:t> avec des aiguilles dessinées à partir des angles. </a:t>
            </a:r>
          </a:p>
          <a:p>
            <a:r>
              <a:rPr lang="fr-CH" dirty="0">
                <a:effectLst/>
              </a:rPr>
              <a:t>        C’est un bon exemple d’interface cockpit simple mais efficace.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988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8. Difficultés rencontrées (AAA)</a:t>
            </a:r>
          </a:p>
          <a:p>
            <a:endParaRPr lang="fr-CH" dirty="0">
              <a:effectLst/>
            </a:endParaRPr>
          </a:p>
          <a:p>
            <a:r>
              <a:rPr lang="fr-CH" dirty="0"/>
              <a:t>Comme tout projet ambitieux, </a:t>
            </a:r>
            <a:r>
              <a:rPr lang="fr-CH" dirty="0" err="1"/>
              <a:t>SmartCockpit</a:t>
            </a:r>
            <a:r>
              <a:rPr lang="fr-CH" dirty="0"/>
              <a:t> nous a confrontés à plusieurs défis techniques. </a:t>
            </a:r>
          </a:p>
          <a:p>
            <a:endParaRPr lang="fr-CH" dirty="0"/>
          </a:p>
          <a:p>
            <a:r>
              <a:rPr lang="fr-CH" dirty="0"/>
              <a:t>D’abord, l’</a:t>
            </a:r>
            <a:r>
              <a:rPr lang="fr-CH" b="1" dirty="0">
                <a:effectLst/>
              </a:rPr>
              <a:t>instabilité des capteurs du smartphone</a:t>
            </a:r>
            <a:r>
              <a:rPr lang="fr-CH" dirty="0"/>
              <a:t> : </a:t>
            </a:r>
          </a:p>
          <a:p>
            <a:r>
              <a:rPr lang="fr-CH" dirty="0"/>
              <a:t>	les données sont bruitées, parfois incohérentes, et varient selon les modèles. </a:t>
            </a:r>
          </a:p>
          <a:p>
            <a:r>
              <a:rPr lang="fr-CH" dirty="0"/>
              <a:t>	On a dû filtrer, interpoler, et stabiliser les angles pour obtenir un rendu fiable. </a:t>
            </a:r>
          </a:p>
          <a:p>
            <a:endParaRPr lang="fr-CH" dirty="0"/>
          </a:p>
          <a:p>
            <a:r>
              <a:rPr lang="fr-CH" dirty="0"/>
              <a:t>Ensuite, la </a:t>
            </a:r>
            <a:r>
              <a:rPr lang="fr-CH" b="1" dirty="0">
                <a:effectLst/>
              </a:rPr>
              <a:t>transmission en temps réel via WebSocket</a:t>
            </a:r>
            <a:r>
              <a:rPr lang="fr-CH" dirty="0"/>
              <a:t> : </a:t>
            </a:r>
          </a:p>
          <a:p>
            <a:r>
              <a:rPr lang="fr-CH" dirty="0"/>
              <a:t>	gérer la latence, les pertes de paquets, les reconnexions, surtout en mobilité, demande une architecture robuste. </a:t>
            </a:r>
          </a:p>
          <a:p>
            <a:r>
              <a:rPr lang="fr-CH" dirty="0"/>
              <a:t>	Enfin, la </a:t>
            </a:r>
            <a:r>
              <a:rPr lang="fr-CH" b="1" dirty="0">
                <a:effectLst/>
              </a:rPr>
              <a:t>visualisation en direct</a:t>
            </a:r>
            <a:r>
              <a:rPr lang="fr-CH" dirty="0"/>
              <a:t> : afficher simultanément carte, boussole, audio, logs, widgets… sans saturer le navigateur, c’est un vrai défi d’optimisation. </a:t>
            </a:r>
          </a:p>
          <a:p>
            <a:r>
              <a:rPr lang="fr-CH" dirty="0"/>
              <a:t>	Ces difficultés nous ont poussés à structurer le projet de façon modulaire, cockpit‑</a:t>
            </a:r>
            <a:r>
              <a:rPr lang="fr-CH" dirty="0" err="1"/>
              <a:t>driven</a:t>
            </a:r>
            <a:r>
              <a:rPr lang="fr-CH" dirty="0"/>
              <a:t>, pour garder fluidité et clarté.</a:t>
            </a:r>
            <a:endParaRPr lang="fr-CH" dirty="0">
              <a:effectLst/>
            </a:endParaRP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102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9. Points positifs (AAA)</a:t>
            </a:r>
          </a:p>
          <a:p>
            <a:endParaRPr lang="fr-CH" b="1" dirty="0">
              <a:effectLst/>
            </a:endParaRPr>
          </a:p>
          <a:p>
            <a:r>
              <a:rPr lang="fr-CH" dirty="0">
                <a:effectLst/>
              </a:rPr>
              <a:t>Ce projet nous a permis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de pratiquer JavaScript en profondeur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de travailler en équipe sur un projet modulaire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de découvrir WebSocket, WebRTC, Node.js, Render.com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de comprendre le fonctionnement des capteurs mobiles Et surtout, de construire une vraie interface cockpit temps réel.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92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>
                <a:effectLst/>
              </a:rPr>
              <a:t>10. Perspectives d’évolution (AAA)</a:t>
            </a:r>
          </a:p>
          <a:p>
            <a:endParaRPr lang="fr-CH" b="1" dirty="0">
              <a:effectLst/>
            </a:endParaRPr>
          </a:p>
          <a:p>
            <a:r>
              <a:rPr lang="fr-CH" dirty="0">
                <a:effectLst/>
              </a:rPr>
              <a:t>Pour la suite, on envisage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d’ajouter plus de capteurs et widgets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d’améliorer les interactions avec les widgets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d’optimiser le flux de données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dirty="0">
                <a:effectLst/>
              </a:rPr>
              <a:t> d’ajouter un mode hors‑ligne et un historique des données Le cockpit peut évoluer vers une solution terrain complète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852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3B15-6AAF-48C6-8ACB-6499FA667B6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406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1DAE10-E73F-B176-F373-4C99F88BA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2CDB87-7F62-76FB-5BCD-F191A45C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3196F6-9BA3-7FAA-E817-0B5A75CD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7DEE5E-1C5C-C72C-9937-7D2DEF48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282C6A-7557-D96E-ABC5-0C560F7C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6183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DFB6EC-236C-A67E-8437-9FEC3844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95560C-BFFA-591A-4367-A56776A6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849989-4F5F-8A72-D6FB-4C100888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B13BDB-E005-F800-D4FF-95C7852B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5C9D41-E36C-721E-664A-C352B1C9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78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7425E9-501F-B782-8589-F5C96DD9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6B0201-DE8B-87E8-41AC-00DFD269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B5EC4D-C96E-CEDF-B169-D660413F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CEF8C5-31B7-5D14-D537-5BE9C7FE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F358F-FDC3-EE53-735A-BEEA54AA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9301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FAD2A-31FC-6D83-5B43-21878DED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62A456-D6E2-78AB-FC63-BFADC7C21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D517DD-C6B8-D861-B7B3-683B13D4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301C10-C71B-0B3B-8F9A-B2EFD880C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80AC17-1A96-58C2-D138-19079354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3C0C5E-0B43-D971-7903-791FA397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3003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7B96A5-6720-67EA-03AE-3032F208F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831C7C-B3F3-4964-325F-73960782B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193983-5E37-BF11-5E53-BE42CC658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C0A68C-DC69-E323-0E79-3F0897BB6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12607D4-9D1C-5BCA-5A2C-98A076088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6D90A6-195F-7259-39D5-FFDE5C119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40907D-AAD3-CF97-8FBE-93CC21D9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57F48CB-8A71-D87A-843F-B8F4599E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8056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D70159-0A5A-4A6A-F810-8CC67944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A4EF4D-7694-1C63-1ED3-977353B0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C162DA-11BB-E4AD-D1A3-6738E826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94716C1-3300-9DD2-DC2A-C74FABE0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0271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8535B1-C35F-FA3F-C3FB-21D2D265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8A7794-8D46-D541-2AF5-12C644B5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04F926-FD2F-DADC-005F-E1D22817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917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F94E3B-1562-399E-921D-15757EFC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5AAD6-78AA-8513-FC5C-C235B7C84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1E0A7D-B2C5-095A-EA68-AB33CB9B3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22B7BC-C19F-1532-7853-1A70D3F3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7AFC5C-DE51-FB78-82E5-19C6255D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05C49C-B74C-8D8C-FD01-DCF2BED5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7187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04758D-84B3-E9B0-CC7D-2E9D34D3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1EC06B-F4D1-42C6-D264-CC1FB0A83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BA3D59-B14E-23BE-114D-5888ABD3E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CAA7AF-4260-422A-9976-AEA28CC7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B93AA2-BBE3-61E5-53EB-9948880C9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66E8A9-589A-4B0A-8F94-BF0DB07E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2729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CE4DB2-1760-F3B4-ABBC-B7EE898A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68EE52-C6A7-A78E-BE03-45319A836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F6D72D-DA2B-AD46-85E8-1B346339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D4DB0A-9503-D5F5-CB54-7D6355AA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E38C37-C578-428A-E330-A8D0840D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23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571A955-07B1-71DC-E725-E606D4264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4DD96E3-5928-983D-ABF3-D888D9FE2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A2D43E-7075-1391-F956-4B44236E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221086-A374-2523-DBC8-6E9920A3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7120AA-B978-DD21-77D6-2A3216E4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5675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1000" r="81000" b="9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CAD743-F491-8172-BD4C-BE164629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7B5053-F32A-B3C6-97C7-38EC0DA46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3E48DD-3C07-5018-3F42-8968367E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37112-888A-40C4-BD31-96BD10D39A6F}" type="datetimeFigureOut">
              <a:rPr lang="fr-CH" smtClean="0"/>
              <a:t>14.01.2026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FA68D7-394F-A81B-D498-13B09E61E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3B2FF0-516C-3311-7FE7-3F4B4570E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59570-E4E2-49F5-94D2-857274C6B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9245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5B754-7854-8D9C-6D9F-37E2E3C7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 5" descr="Une image contenant ordinateur portable, capture d’écran, ordinateur, léger&#10;&#10;Le contenu généré par l’IA peut être incorrect.">
            <a:extLst>
              <a:ext uri="{FF2B5EF4-FFF2-40B4-BE49-F238E27FC236}">
                <a16:creationId xmlns:a16="http://schemas.microsoft.com/office/drawing/2014/main" id="{E29E64EE-B421-85D2-3EA2-0136294585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47" r="-2" b="23805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4" name="Image 3" descr="Ecole d'ingénieurs Arc">
            <a:extLst>
              <a:ext uri="{FF2B5EF4-FFF2-40B4-BE49-F238E27FC236}">
                <a16:creationId xmlns:a16="http://schemas.microsoft.com/office/drawing/2014/main" id="{A24667E0-985A-B5CC-88AE-B8E35D5A3C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97" r="-1" b="13224"/>
          <a:stretch>
            <a:fillRect/>
          </a:stretch>
        </p:blipFill>
        <p:spPr bwMode="auto">
          <a:xfrm>
            <a:off x="4547938" y="3681409"/>
            <a:ext cx="7644062" cy="3176595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3A09025-77E1-0BEF-D6B0-BB6B6288E7E1}"/>
              </a:ext>
            </a:extLst>
          </p:cNvPr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SmartCockpit</a:t>
            </a:r>
            <a:endParaRPr lang="en-US" sz="5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F15E816-61D6-4DDA-DB08-5A52007A5310}"/>
              </a:ext>
            </a:extLst>
          </p:cNvPr>
          <p:cNvSpPr txBox="1"/>
          <p:nvPr/>
        </p:nvSpPr>
        <p:spPr>
          <a:xfrm>
            <a:off x="838200" y="4087019"/>
            <a:ext cx="5395912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CAS-DAW </a:t>
            </a:r>
            <a:b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Projet</a:t>
            </a: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JavaScript</a:t>
            </a:r>
            <a:b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b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b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b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Dolci Marco</a:t>
            </a:r>
            <a:b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Debons Christophe</a:t>
            </a:r>
            <a:b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Akram</a:t>
            </a:r>
            <a:r>
              <a:rPr lang="en-US" sz="1700" dirty="0">
                <a:solidFill>
                  <a:schemeClr val="bg1"/>
                </a:solidFill>
              </a:rPr>
              <a:t> Ayman</a:t>
            </a:r>
            <a:endParaRPr lang="en-US" sz="17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60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FF51-8FA8-BDC9-9162-BD3E8F0C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1AF6612-46ED-F44F-4BD1-798D5CBC3CD7}"/>
              </a:ext>
            </a:extLst>
          </p:cNvPr>
          <p:cNvSpPr txBox="1"/>
          <p:nvPr/>
        </p:nvSpPr>
        <p:spPr>
          <a:xfrm>
            <a:off x="453494" y="870500"/>
            <a:ext cx="10062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/>
              <a:t>Objectif</a:t>
            </a:r>
          </a:p>
        </p:txBody>
      </p:sp>
      <p:pic>
        <p:nvPicPr>
          <p:cNvPr id="1026" name="Picture 2" descr="Images de Picto objectif – Téléchargement gratuit sur Freepik">
            <a:extLst>
              <a:ext uri="{FF2B5EF4-FFF2-40B4-BE49-F238E27FC236}">
                <a16:creationId xmlns:a16="http://schemas.microsoft.com/office/drawing/2014/main" id="{86222449-EC84-49EB-7CB7-103F2F08F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614" y="646472"/>
            <a:ext cx="3333135" cy="333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C923CBE-6E0E-0E51-4A67-6535180A0B9F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16C0901-4AA5-B4F1-DA8C-3E61C2D6E9F7}"/>
              </a:ext>
            </a:extLst>
          </p:cNvPr>
          <p:cNvSpPr txBox="1"/>
          <p:nvPr/>
        </p:nvSpPr>
        <p:spPr>
          <a:xfrm>
            <a:off x="1443151" y="4064501"/>
            <a:ext cx="9846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Centraliser et visualiser en temps réel les données des capteurs d’un smartphone afin de suivre, à distance, des activités mobiles et extrêmes, là où l’observation directe est impossible ou limitée.</a:t>
            </a:r>
            <a:endParaRPr lang="fr-CH" sz="2400" b="1" dirty="0"/>
          </a:p>
        </p:txBody>
      </p:sp>
    </p:spTree>
    <p:extLst>
      <p:ext uri="{BB962C8B-B14F-4D97-AF65-F5344CB8AC3E}">
        <p14:creationId xmlns:p14="http://schemas.microsoft.com/office/powerpoint/2010/main" val="130154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D6E3F-B4D6-E314-2057-E2767097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7AAC3D99-F527-433D-86CB-3C19B8682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pic>
        <p:nvPicPr>
          <p:cNvPr id="1026" name="Picture 2" descr="18 400+ Voilier Dessin Stock Illustrations, graphiques vectoriels libre de  droits et Clip Art - iStock">
            <a:extLst>
              <a:ext uri="{FF2B5EF4-FFF2-40B4-BE49-F238E27FC236}">
                <a16:creationId xmlns:a16="http://schemas.microsoft.com/office/drawing/2014/main" id="{68D66E16-A174-2B41-CAA6-8BC12FA09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0" r="1372" b="-3"/>
          <a:stretch>
            <a:fillRect/>
          </a:stretch>
        </p:blipFill>
        <p:spPr bwMode="auto">
          <a:xfrm>
            <a:off x="20" y="2857855"/>
            <a:ext cx="4211035" cy="4000145"/>
          </a:xfrm>
          <a:custGeom>
            <a:avLst/>
            <a:gdLst/>
            <a:ahLst/>
            <a:cxnLst/>
            <a:rect l="l" t="t" r="r" b="b"/>
            <a:pathLst>
              <a:path w="4211055" h="4000145">
                <a:moveTo>
                  <a:pt x="1165310" y="990"/>
                </a:moveTo>
                <a:cubicBezTo>
                  <a:pt x="1578456" y="12730"/>
                  <a:pt x="2002082" y="129252"/>
                  <a:pt x="2418078" y="367333"/>
                </a:cubicBezTo>
                <a:cubicBezTo>
                  <a:pt x="3626917" y="1059170"/>
                  <a:pt x="4390740" y="2547253"/>
                  <a:pt x="4174528" y="3871009"/>
                </a:cubicBezTo>
                <a:lnTo>
                  <a:pt x="4145661" y="4000145"/>
                </a:lnTo>
                <a:lnTo>
                  <a:pt x="0" y="4000145"/>
                </a:lnTo>
                <a:lnTo>
                  <a:pt x="0" y="251609"/>
                </a:lnTo>
                <a:lnTo>
                  <a:pt x="158783" y="182603"/>
                </a:lnTo>
                <a:cubicBezTo>
                  <a:pt x="479801" y="54981"/>
                  <a:pt x="818871" y="-8854"/>
                  <a:pt x="1165310" y="99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B60AD925-C857-4641-888D-DD8B23E2F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464" y="2646946"/>
            <a:ext cx="4611389" cy="4234957"/>
          </a:xfrm>
          <a:custGeom>
            <a:avLst/>
            <a:gdLst>
              <a:gd name="connsiteX0" fmla="*/ 1027223 w 4611389"/>
              <a:gd name="connsiteY0" fmla="*/ 1561 h 4349060"/>
              <a:gd name="connsiteX1" fmla="*/ 2494275 w 4611389"/>
              <a:gd name="connsiteY1" fmla="*/ 407320 h 4349060"/>
              <a:gd name="connsiteX2" fmla="*/ 4571779 w 4611389"/>
              <a:gd name="connsiteY2" fmla="*/ 4223172 h 4349060"/>
              <a:gd name="connsiteX3" fmla="*/ 4542246 w 4611389"/>
              <a:gd name="connsiteY3" fmla="*/ 4349060 h 4349060"/>
              <a:gd name="connsiteX4" fmla="*/ 0 w 4611389"/>
              <a:gd name="connsiteY4" fmla="*/ 4349060 h 4349060"/>
              <a:gd name="connsiteX5" fmla="*/ 0 w 4611389"/>
              <a:gd name="connsiteY5" fmla="*/ 145315 h 4349060"/>
              <a:gd name="connsiteX6" fmla="*/ 177713 w 4611389"/>
              <a:gd name="connsiteY6" fmla="*/ 92596 h 4349060"/>
              <a:gd name="connsiteX7" fmla="*/ 1027223 w 4611389"/>
              <a:gd name="connsiteY7" fmla="*/ 1561 h 43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11389" h="4349060">
                <a:moveTo>
                  <a:pt x="1027223" y="1561"/>
                </a:moveTo>
                <a:cubicBezTo>
                  <a:pt x="1510283" y="16927"/>
                  <a:pt x="2006320" y="146146"/>
                  <a:pt x="2494275" y="407320"/>
                </a:cubicBezTo>
                <a:cubicBezTo>
                  <a:pt x="3912216" y="1166261"/>
                  <a:pt x="4815410" y="2787044"/>
                  <a:pt x="4571779" y="4223172"/>
                </a:cubicBezTo>
                <a:lnTo>
                  <a:pt x="4542246" y="4349060"/>
                </a:lnTo>
                <a:lnTo>
                  <a:pt x="0" y="4349060"/>
                </a:lnTo>
                <a:lnTo>
                  <a:pt x="0" y="145315"/>
                </a:lnTo>
                <a:lnTo>
                  <a:pt x="177713" y="92596"/>
                </a:lnTo>
                <a:cubicBezTo>
                  <a:pt x="453211" y="23999"/>
                  <a:pt x="737889" y="-7642"/>
                  <a:pt x="1027223" y="1561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3C9C3854-C672-47D2-8FD3-15A88F6CE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7910" y="-12717"/>
            <a:ext cx="4495812" cy="2866417"/>
          </a:xfrm>
          <a:custGeom>
            <a:avLst/>
            <a:gdLst>
              <a:gd name="connsiteX0" fmla="*/ 237339 w 4130517"/>
              <a:gd name="connsiteY0" fmla="*/ 0 h 2806419"/>
              <a:gd name="connsiteX1" fmla="*/ 3997489 w 4130517"/>
              <a:gd name="connsiteY1" fmla="*/ 0 h 2806419"/>
              <a:gd name="connsiteX2" fmla="*/ 4006148 w 4130517"/>
              <a:gd name="connsiteY2" fmla="*/ 24333 h 2806419"/>
              <a:gd name="connsiteX3" fmla="*/ 4130517 w 4130517"/>
              <a:gd name="connsiteY3" fmla="*/ 887307 h 2806419"/>
              <a:gd name="connsiteX4" fmla="*/ 3915925 w 4130517"/>
              <a:gd name="connsiteY4" fmla="*/ 1525677 h 2806419"/>
              <a:gd name="connsiteX5" fmla="*/ 3280571 w 4130517"/>
              <a:gd name="connsiteY5" fmla="*/ 2120090 h 2806419"/>
              <a:gd name="connsiteX6" fmla="*/ 3140878 w 4130517"/>
              <a:gd name="connsiteY6" fmla="*/ 2233796 h 2806419"/>
              <a:gd name="connsiteX7" fmla="*/ 1993019 w 4130517"/>
              <a:gd name="connsiteY7" fmla="*/ 2806419 h 2806419"/>
              <a:gd name="connsiteX8" fmla="*/ 480948 w 4130517"/>
              <a:gd name="connsiteY8" fmla="*/ 1875638 h 2806419"/>
              <a:gd name="connsiteX9" fmla="*/ 319805 w 4130517"/>
              <a:gd name="connsiteY9" fmla="*/ 1637519 h 2806419"/>
              <a:gd name="connsiteX10" fmla="*/ 0 w 4130517"/>
              <a:gd name="connsiteY10" fmla="*/ 887307 h 2806419"/>
              <a:gd name="connsiteX11" fmla="*/ 193231 w 4130517"/>
              <a:gd name="connsiteY11" fmla="*/ 79360 h 280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30517" h="2806419">
                <a:moveTo>
                  <a:pt x="237339" y="0"/>
                </a:moveTo>
                <a:lnTo>
                  <a:pt x="3997489" y="0"/>
                </a:lnTo>
                <a:lnTo>
                  <a:pt x="4006148" y="24333"/>
                </a:lnTo>
                <a:cubicBezTo>
                  <a:pt x="4087750" y="288004"/>
                  <a:pt x="4130517" y="579903"/>
                  <a:pt x="4130517" y="887307"/>
                </a:cubicBezTo>
                <a:cubicBezTo>
                  <a:pt x="4130517" y="1132599"/>
                  <a:pt x="4064304" y="1329464"/>
                  <a:pt x="3915925" y="1525677"/>
                </a:cubicBezTo>
                <a:cubicBezTo>
                  <a:pt x="3760721" y="1730924"/>
                  <a:pt x="3527514" y="1919967"/>
                  <a:pt x="3280571" y="2120090"/>
                </a:cubicBezTo>
                <a:cubicBezTo>
                  <a:pt x="3235011" y="2156968"/>
                  <a:pt x="3187944" y="2195151"/>
                  <a:pt x="3140878" y="2233796"/>
                </a:cubicBezTo>
                <a:cubicBezTo>
                  <a:pt x="2719582" y="2579662"/>
                  <a:pt x="2412097" y="2806419"/>
                  <a:pt x="1993019" y="2806419"/>
                </a:cubicBezTo>
                <a:cubicBezTo>
                  <a:pt x="1354472" y="2806419"/>
                  <a:pt x="902244" y="2528070"/>
                  <a:pt x="480948" y="1875638"/>
                </a:cubicBezTo>
                <a:cubicBezTo>
                  <a:pt x="425816" y="1790244"/>
                  <a:pt x="371924" y="1712578"/>
                  <a:pt x="319805" y="1637519"/>
                </a:cubicBezTo>
                <a:cubicBezTo>
                  <a:pt x="103795" y="1326296"/>
                  <a:pt x="0" y="1164446"/>
                  <a:pt x="0" y="887307"/>
                </a:cubicBezTo>
                <a:cubicBezTo>
                  <a:pt x="0" y="612125"/>
                  <a:pt x="65060" y="340293"/>
                  <a:pt x="193231" y="7936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5A5984C3-482F-4BE6-A94A-A4BC108D7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969413">
            <a:off x="5578738" y="1299898"/>
            <a:ext cx="2299137" cy="2600447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3BB574-563D-DC15-46C9-ECAE3D649B86}"/>
              </a:ext>
            </a:extLst>
          </p:cNvPr>
          <p:cNvSpPr txBox="1"/>
          <p:nvPr/>
        </p:nvSpPr>
        <p:spPr>
          <a:xfrm>
            <a:off x="4944979" y="4013217"/>
            <a:ext cx="7119201" cy="188443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Exemples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fr-FR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</a:t>
            </a:r>
            <a:r>
              <a:rPr lang="fr-FR" sz="4800" b="1" dirty="0"/>
              <a:t>esoins couverts par notre solution</a:t>
            </a:r>
            <a:endParaRPr lang="en-US" sz="4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 descr="Race Track Vektorgrafiken und Vektor-Icons zum kostenlosen Download">
            <a:extLst>
              <a:ext uri="{FF2B5EF4-FFF2-40B4-BE49-F238E27FC236}">
                <a16:creationId xmlns:a16="http://schemas.microsoft.com/office/drawing/2014/main" id="{E9C83304-138D-2FF1-4886-242A33574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2" r="9984" b="-1"/>
          <a:stretch>
            <a:fillRect/>
          </a:stretch>
        </p:blipFill>
        <p:spPr bwMode="auto">
          <a:xfrm>
            <a:off x="1620005" y="10"/>
            <a:ext cx="4077699" cy="2646937"/>
          </a:xfrm>
          <a:custGeom>
            <a:avLst/>
            <a:gdLst/>
            <a:ahLst/>
            <a:cxnLst/>
            <a:rect l="l" t="t" r="r" b="b"/>
            <a:pathLst>
              <a:path w="4077699" h="2646947">
                <a:moveTo>
                  <a:pt x="298869" y="0"/>
                </a:moveTo>
                <a:lnTo>
                  <a:pt x="3905710" y="0"/>
                </a:lnTo>
                <a:lnTo>
                  <a:pt x="3954920" y="126877"/>
                </a:lnTo>
                <a:cubicBezTo>
                  <a:pt x="4035479" y="365716"/>
                  <a:pt x="4077699" y="630123"/>
                  <a:pt x="4077699" y="908578"/>
                </a:cubicBezTo>
                <a:cubicBezTo>
                  <a:pt x="4077699" y="1130767"/>
                  <a:pt x="4012333" y="1309091"/>
                  <a:pt x="3865851" y="1486825"/>
                </a:cubicBezTo>
                <a:cubicBezTo>
                  <a:pt x="3712631" y="1672742"/>
                  <a:pt x="3482407" y="1843981"/>
                  <a:pt x="3238621" y="2025257"/>
                </a:cubicBezTo>
                <a:cubicBezTo>
                  <a:pt x="3193644" y="2058662"/>
                  <a:pt x="3147179" y="2093247"/>
                  <a:pt x="3100715" y="2128254"/>
                </a:cubicBezTo>
                <a:cubicBezTo>
                  <a:pt x="2684806" y="2441546"/>
                  <a:pt x="2381253" y="2646947"/>
                  <a:pt x="1967534" y="2646947"/>
                </a:cubicBezTo>
                <a:cubicBezTo>
                  <a:pt x="1337153" y="2646947"/>
                  <a:pt x="890707" y="2394813"/>
                  <a:pt x="474798" y="1803828"/>
                </a:cubicBezTo>
                <a:cubicBezTo>
                  <a:pt x="420372" y="1726474"/>
                  <a:pt x="367168" y="1656124"/>
                  <a:pt x="315716" y="1588134"/>
                </a:cubicBezTo>
                <a:cubicBezTo>
                  <a:pt x="102468" y="1306222"/>
                  <a:pt x="0" y="1159615"/>
                  <a:pt x="0" y="908578"/>
                </a:cubicBezTo>
                <a:cubicBezTo>
                  <a:pt x="0" y="659312"/>
                  <a:pt x="64228" y="413080"/>
                  <a:pt x="190760" y="176721"/>
                </a:cubicBezTo>
                <a:cubicBezTo>
                  <a:pt x="221715" y="118918"/>
                  <a:pt x="255994" y="62336"/>
                  <a:pt x="293522" y="707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rapente Art vectoriel, icônes et graphiques à télécharger gratuitement">
            <a:extLst>
              <a:ext uri="{FF2B5EF4-FFF2-40B4-BE49-F238E27FC236}">
                <a16:creationId xmlns:a16="http://schemas.microsoft.com/office/drawing/2014/main" id="{C465E336-9F29-4207-2585-CCD51C22E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8"/>
          <a:stretch>
            <a:fillRect/>
          </a:stretch>
        </p:blipFill>
        <p:spPr bwMode="auto">
          <a:xfrm>
            <a:off x="5584924" y="1547578"/>
            <a:ext cx="2292493" cy="2122880"/>
          </a:xfrm>
          <a:custGeom>
            <a:avLst/>
            <a:gdLst/>
            <a:ahLst/>
            <a:cxnLst/>
            <a:rect l="l" t="t" r="r" b="b"/>
            <a:pathLst>
              <a:path w="2292493" h="2122880">
                <a:moveTo>
                  <a:pt x="1235443" y="101"/>
                </a:moveTo>
                <a:cubicBezTo>
                  <a:pt x="1263084" y="-395"/>
                  <a:pt x="1291217" y="936"/>
                  <a:pt x="1320072" y="4230"/>
                </a:cubicBezTo>
                <a:cubicBezTo>
                  <a:pt x="1671802" y="44384"/>
                  <a:pt x="1902125" y="218473"/>
                  <a:pt x="2090172" y="586366"/>
                </a:cubicBezTo>
                <a:cubicBezTo>
                  <a:pt x="2114779" y="634518"/>
                  <a:pt x="2139225" y="678547"/>
                  <a:pt x="2162870" y="721101"/>
                </a:cubicBezTo>
                <a:cubicBezTo>
                  <a:pt x="2260860" y="897539"/>
                  <a:pt x="2307113" y="988758"/>
                  <a:pt x="2288417" y="1133777"/>
                </a:cubicBezTo>
                <a:cubicBezTo>
                  <a:pt x="2269852" y="1277773"/>
                  <a:pt x="2215677" y="1415925"/>
                  <a:pt x="2127475" y="1544405"/>
                </a:cubicBezTo>
                <a:cubicBezTo>
                  <a:pt x="2041168" y="1670087"/>
                  <a:pt x="1926635" y="1781072"/>
                  <a:pt x="1787108" y="1874175"/>
                </a:cubicBezTo>
                <a:cubicBezTo>
                  <a:pt x="1649962" y="1965719"/>
                  <a:pt x="1492014" y="2036098"/>
                  <a:pt x="1330248" y="2077660"/>
                </a:cubicBezTo>
                <a:cubicBezTo>
                  <a:pt x="1164114" y="2120453"/>
                  <a:pt x="999359" y="2132944"/>
                  <a:pt x="840730" y="2114835"/>
                </a:cubicBezTo>
                <a:cubicBezTo>
                  <a:pt x="691132" y="2097757"/>
                  <a:pt x="557149" y="2053337"/>
                  <a:pt x="442425" y="1982881"/>
                </a:cubicBezTo>
                <a:cubicBezTo>
                  <a:pt x="334913" y="1916810"/>
                  <a:pt x="244458" y="1827961"/>
                  <a:pt x="173560" y="1718848"/>
                </a:cubicBezTo>
                <a:cubicBezTo>
                  <a:pt x="83005" y="1579424"/>
                  <a:pt x="26806" y="1409945"/>
                  <a:pt x="7516" y="1223899"/>
                </a:cubicBezTo>
                <a:cubicBezTo>
                  <a:pt x="-4057" y="1112273"/>
                  <a:pt x="-2343" y="994681"/>
                  <a:pt x="13211" y="874039"/>
                </a:cubicBezTo>
                <a:cubicBezTo>
                  <a:pt x="29758" y="745684"/>
                  <a:pt x="79512" y="646833"/>
                  <a:pt x="174480" y="553491"/>
                </a:cubicBezTo>
                <a:cubicBezTo>
                  <a:pt x="273817" y="455849"/>
                  <a:pt x="415027" y="371593"/>
                  <a:pt x="564552" y="282403"/>
                </a:cubicBezTo>
                <a:cubicBezTo>
                  <a:pt x="592135" y="265970"/>
                  <a:pt x="620637" y="248950"/>
                  <a:pt x="649169" y="231687"/>
                </a:cubicBezTo>
                <a:cubicBezTo>
                  <a:pt x="872639" y="96509"/>
                  <a:pt x="1041960" y="3569"/>
                  <a:pt x="1235443" y="10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BA3354A6-35AE-4D59-AB14-C804900E9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0005" y="0"/>
            <a:ext cx="4077699" cy="2646947"/>
          </a:xfrm>
          <a:custGeom>
            <a:avLst/>
            <a:gdLst>
              <a:gd name="connsiteX0" fmla="*/ 298869 w 4077699"/>
              <a:gd name="connsiteY0" fmla="*/ 0 h 2646947"/>
              <a:gd name="connsiteX1" fmla="*/ 392277 w 4077699"/>
              <a:gd name="connsiteY1" fmla="*/ 0 h 2646947"/>
              <a:gd name="connsiteX2" fmla="*/ 387217 w 4077699"/>
              <a:gd name="connsiteY2" fmla="*/ 6841 h 2646947"/>
              <a:gd name="connsiteX3" fmla="*/ 289956 w 4077699"/>
              <a:gd name="connsiteY3" fmla="*/ 170861 h 2646947"/>
              <a:gd name="connsiteX4" fmla="*/ 109408 w 4077699"/>
              <a:gd name="connsiteY4" fmla="*/ 878451 h 2646947"/>
              <a:gd name="connsiteX5" fmla="*/ 183128 w 4077699"/>
              <a:gd name="connsiteY5" fmla="*/ 1195768 h 2646947"/>
              <a:gd name="connsiteX6" fmla="*/ 190272 w 4077699"/>
              <a:gd name="connsiteY6" fmla="*/ 1207732 h 2646947"/>
              <a:gd name="connsiteX7" fmla="*/ 207472 w 4077699"/>
              <a:gd name="connsiteY7" fmla="*/ 1253396 h 2646947"/>
              <a:gd name="connsiteX8" fmla="*/ 425597 w 4077699"/>
              <a:gd name="connsiteY8" fmla="*/ 1574987 h 2646947"/>
              <a:gd name="connsiteX9" fmla="*/ 571502 w 4077699"/>
              <a:gd name="connsiteY9" fmla="*/ 1772408 h 2646947"/>
              <a:gd name="connsiteX10" fmla="*/ 1019876 w 4077699"/>
              <a:gd name="connsiteY10" fmla="*/ 2254288 h 2646947"/>
              <a:gd name="connsiteX11" fmla="*/ 1170214 w 4077699"/>
              <a:gd name="connsiteY11" fmla="*/ 2353167 h 2646947"/>
              <a:gd name="connsiteX12" fmla="*/ 1189078 w 4077699"/>
              <a:gd name="connsiteY12" fmla="*/ 2365867 h 2646947"/>
              <a:gd name="connsiteX13" fmla="*/ 1971610 w 4077699"/>
              <a:gd name="connsiteY13" fmla="*/ 2559177 h 2646947"/>
              <a:gd name="connsiteX14" fmla="*/ 3044126 w 4077699"/>
              <a:gd name="connsiteY14" fmla="*/ 2057684 h 2646947"/>
              <a:gd name="connsiteX15" fmla="*/ 3174649 w 4077699"/>
              <a:gd name="connsiteY15" fmla="*/ 1958102 h 2646947"/>
              <a:gd name="connsiteX16" fmla="*/ 3768300 w 4077699"/>
              <a:gd name="connsiteY16" fmla="*/ 1437524 h 2646947"/>
              <a:gd name="connsiteX17" fmla="*/ 3968807 w 4077699"/>
              <a:gd name="connsiteY17" fmla="*/ 878451 h 2646947"/>
              <a:gd name="connsiteX18" fmla="*/ 3852601 w 4077699"/>
              <a:gd name="connsiteY18" fmla="*/ 122670 h 2646947"/>
              <a:gd name="connsiteX19" fmla="*/ 3806026 w 4077699"/>
              <a:gd name="connsiteY19" fmla="*/ 0 h 2646947"/>
              <a:gd name="connsiteX20" fmla="*/ 3905710 w 4077699"/>
              <a:gd name="connsiteY20" fmla="*/ 0 h 2646947"/>
              <a:gd name="connsiteX21" fmla="*/ 3954920 w 4077699"/>
              <a:gd name="connsiteY21" fmla="*/ 126878 h 2646947"/>
              <a:gd name="connsiteX22" fmla="*/ 4077699 w 4077699"/>
              <a:gd name="connsiteY22" fmla="*/ 908578 h 2646947"/>
              <a:gd name="connsiteX23" fmla="*/ 3865851 w 4077699"/>
              <a:gd name="connsiteY23" fmla="*/ 1486825 h 2646947"/>
              <a:gd name="connsiteX24" fmla="*/ 3238621 w 4077699"/>
              <a:gd name="connsiteY24" fmla="*/ 2025258 h 2646947"/>
              <a:gd name="connsiteX25" fmla="*/ 3100715 w 4077699"/>
              <a:gd name="connsiteY25" fmla="*/ 2128254 h 2646947"/>
              <a:gd name="connsiteX26" fmla="*/ 1967534 w 4077699"/>
              <a:gd name="connsiteY26" fmla="*/ 2646947 h 2646947"/>
              <a:gd name="connsiteX27" fmla="*/ 474798 w 4077699"/>
              <a:gd name="connsiteY27" fmla="*/ 1803828 h 2646947"/>
              <a:gd name="connsiteX28" fmla="*/ 315716 w 4077699"/>
              <a:gd name="connsiteY28" fmla="*/ 1588134 h 2646947"/>
              <a:gd name="connsiteX29" fmla="*/ 0 w 4077699"/>
              <a:gd name="connsiteY29" fmla="*/ 908578 h 2646947"/>
              <a:gd name="connsiteX30" fmla="*/ 190760 w 4077699"/>
              <a:gd name="connsiteY30" fmla="*/ 176721 h 2646947"/>
              <a:gd name="connsiteX31" fmla="*/ 293521 w 4077699"/>
              <a:gd name="connsiteY31" fmla="*/ 7075 h 2646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77699" h="2646947">
                <a:moveTo>
                  <a:pt x="298869" y="0"/>
                </a:moveTo>
                <a:lnTo>
                  <a:pt x="392277" y="0"/>
                </a:lnTo>
                <a:lnTo>
                  <a:pt x="387217" y="6841"/>
                </a:lnTo>
                <a:cubicBezTo>
                  <a:pt x="351698" y="60269"/>
                  <a:pt x="319254" y="114975"/>
                  <a:pt x="289956" y="170861"/>
                </a:cubicBezTo>
                <a:cubicBezTo>
                  <a:pt x="170198" y="399383"/>
                  <a:pt x="109408" y="637450"/>
                  <a:pt x="109408" y="878451"/>
                </a:cubicBezTo>
                <a:cubicBezTo>
                  <a:pt x="109408" y="999807"/>
                  <a:pt x="133654" y="1095922"/>
                  <a:pt x="183128" y="1195768"/>
                </a:cubicBezTo>
                <a:lnTo>
                  <a:pt x="190272" y="1207732"/>
                </a:lnTo>
                <a:lnTo>
                  <a:pt x="207472" y="1253396"/>
                </a:lnTo>
                <a:cubicBezTo>
                  <a:pt x="255415" y="1347918"/>
                  <a:pt x="327805" y="1445972"/>
                  <a:pt x="425597" y="1574987"/>
                </a:cubicBezTo>
                <a:cubicBezTo>
                  <a:pt x="472787" y="1637218"/>
                  <a:pt x="521584" y="1701608"/>
                  <a:pt x="571502" y="1772408"/>
                </a:cubicBezTo>
                <a:cubicBezTo>
                  <a:pt x="714549" y="1975254"/>
                  <a:pt x="861533" y="2134485"/>
                  <a:pt x="1019876" y="2254288"/>
                </a:cubicBezTo>
                <a:lnTo>
                  <a:pt x="1170214" y="2353167"/>
                </a:lnTo>
                <a:lnTo>
                  <a:pt x="1189078" y="2365867"/>
                </a:lnTo>
                <a:cubicBezTo>
                  <a:pt x="1418499" y="2498234"/>
                  <a:pt x="1673294" y="2559177"/>
                  <a:pt x="1971610" y="2559177"/>
                </a:cubicBezTo>
                <a:cubicBezTo>
                  <a:pt x="2363180" y="2559177"/>
                  <a:pt x="2650483" y="2360587"/>
                  <a:pt x="3044126" y="2057684"/>
                </a:cubicBezTo>
                <a:cubicBezTo>
                  <a:pt x="3088102" y="2023837"/>
                  <a:pt x="3132080" y="1990399"/>
                  <a:pt x="3174649" y="1958102"/>
                </a:cubicBezTo>
                <a:cubicBezTo>
                  <a:pt x="3405384" y="1782837"/>
                  <a:pt x="3623283" y="1617276"/>
                  <a:pt x="3768300" y="1437524"/>
                </a:cubicBezTo>
                <a:cubicBezTo>
                  <a:pt x="3906940" y="1265683"/>
                  <a:pt x="3968807" y="1093272"/>
                  <a:pt x="3968807" y="878451"/>
                </a:cubicBezTo>
                <a:cubicBezTo>
                  <a:pt x="3968807" y="609229"/>
                  <a:pt x="3928847" y="353589"/>
                  <a:pt x="3852601" y="122670"/>
                </a:cubicBezTo>
                <a:lnTo>
                  <a:pt x="3806026" y="0"/>
                </a:lnTo>
                <a:lnTo>
                  <a:pt x="3905710" y="0"/>
                </a:lnTo>
                <a:lnTo>
                  <a:pt x="3954920" y="126878"/>
                </a:lnTo>
                <a:cubicBezTo>
                  <a:pt x="4035479" y="365716"/>
                  <a:pt x="4077699" y="630123"/>
                  <a:pt x="4077699" y="908578"/>
                </a:cubicBezTo>
                <a:cubicBezTo>
                  <a:pt x="4077699" y="1130767"/>
                  <a:pt x="4012333" y="1309091"/>
                  <a:pt x="3865851" y="1486825"/>
                </a:cubicBezTo>
                <a:cubicBezTo>
                  <a:pt x="3712631" y="1672742"/>
                  <a:pt x="3482407" y="1843981"/>
                  <a:pt x="3238621" y="2025258"/>
                </a:cubicBezTo>
                <a:cubicBezTo>
                  <a:pt x="3193644" y="2058662"/>
                  <a:pt x="3147179" y="2093248"/>
                  <a:pt x="3100715" y="2128254"/>
                </a:cubicBezTo>
                <a:cubicBezTo>
                  <a:pt x="2684806" y="2441546"/>
                  <a:pt x="2381253" y="2646947"/>
                  <a:pt x="1967534" y="2646947"/>
                </a:cubicBezTo>
                <a:cubicBezTo>
                  <a:pt x="1337153" y="2646947"/>
                  <a:pt x="890707" y="2394813"/>
                  <a:pt x="474798" y="1803828"/>
                </a:cubicBezTo>
                <a:cubicBezTo>
                  <a:pt x="420372" y="1726474"/>
                  <a:pt x="367168" y="1656124"/>
                  <a:pt x="315716" y="1588134"/>
                </a:cubicBezTo>
                <a:cubicBezTo>
                  <a:pt x="102468" y="1306223"/>
                  <a:pt x="0" y="1159615"/>
                  <a:pt x="0" y="908578"/>
                </a:cubicBezTo>
                <a:cubicBezTo>
                  <a:pt x="0" y="659312"/>
                  <a:pt x="64228" y="413080"/>
                  <a:pt x="190760" y="176721"/>
                </a:cubicBezTo>
                <a:cubicBezTo>
                  <a:pt x="221715" y="118918"/>
                  <a:pt x="255994" y="62336"/>
                  <a:pt x="293521" y="7075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47" name="Freeform: Shape 1046">
            <a:extLst>
              <a:ext uri="{FF2B5EF4-FFF2-40B4-BE49-F238E27FC236}">
                <a16:creationId xmlns:a16="http://schemas.microsoft.com/office/drawing/2014/main" id="{4007F102-B4E3-4315-BAED-4C480A7F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969413">
            <a:off x="5678778" y="1463140"/>
            <a:ext cx="2104785" cy="2291756"/>
          </a:xfrm>
          <a:custGeom>
            <a:avLst/>
            <a:gdLst>
              <a:gd name="connsiteX0" fmla="*/ 2023353 w 2104785"/>
              <a:gd name="connsiteY0" fmla="*/ 1284444 h 2291756"/>
              <a:gd name="connsiteX1" fmla="*/ 1845451 w 2104785"/>
              <a:gd name="connsiteY1" fmla="*/ 738354 h 2291756"/>
              <a:gd name="connsiteX2" fmla="*/ 1803825 w 2104785"/>
              <a:gd name="connsiteY2" fmla="*/ 658465 h 2291756"/>
              <a:gd name="connsiteX3" fmla="*/ 1577531 w 2104785"/>
              <a:gd name="connsiteY3" fmla="*/ 287879 h 2291756"/>
              <a:gd name="connsiteX4" fmla="*/ 1291674 w 2104785"/>
              <a:gd name="connsiteY4" fmla="*/ 121748 h 2291756"/>
              <a:gd name="connsiteX5" fmla="*/ 969299 w 2104785"/>
              <a:gd name="connsiteY5" fmla="*/ 94904 h 2291756"/>
              <a:gd name="connsiteX6" fmla="*/ 502626 w 2104785"/>
              <a:gd name="connsiteY6" fmla="*/ 214833 h 2291756"/>
              <a:gd name="connsiteX7" fmla="*/ 242694 w 2104785"/>
              <a:gd name="connsiteY7" fmla="*/ 442328 h 2291756"/>
              <a:gd name="connsiteX8" fmla="*/ 96707 w 2104785"/>
              <a:gd name="connsiteY8" fmla="*/ 795407 h 2291756"/>
              <a:gd name="connsiteX9" fmla="*/ 101173 w 2104785"/>
              <a:gd name="connsiteY9" fmla="*/ 1241694 h 2291756"/>
              <a:gd name="connsiteX10" fmla="*/ 261039 w 2104785"/>
              <a:gd name="connsiteY10" fmla="*/ 1668667 h 2291756"/>
              <a:gd name="connsiteX11" fmla="*/ 322410 w 2104785"/>
              <a:gd name="connsiteY11" fmla="*/ 1763813 h 2291756"/>
              <a:gd name="connsiteX12" fmla="*/ 346848 w 2104785"/>
              <a:gd name="connsiteY12" fmla="*/ 1795056 h 2291756"/>
              <a:gd name="connsiteX13" fmla="*/ 361092 w 2104785"/>
              <a:gd name="connsiteY13" fmla="*/ 1818185 h 2291756"/>
              <a:gd name="connsiteX14" fmla="*/ 572684 w 2104785"/>
              <a:gd name="connsiteY14" fmla="*/ 2050800 h 2291756"/>
              <a:gd name="connsiteX15" fmla="*/ 925201 w 2104785"/>
              <a:gd name="connsiteY15" fmla="*/ 2220268 h 2291756"/>
              <a:gd name="connsiteX16" fmla="*/ 1297410 w 2104785"/>
              <a:gd name="connsiteY16" fmla="*/ 2130336 h 2291756"/>
              <a:gd name="connsiteX17" fmla="*/ 1420912 w 2104785"/>
              <a:gd name="connsiteY17" fmla="*/ 2072252 h 2291756"/>
              <a:gd name="connsiteX18" fmla="*/ 1868653 w 2104785"/>
              <a:gd name="connsiteY18" fmla="*/ 1718003 h 2291756"/>
              <a:gd name="connsiteX19" fmla="*/ 1887533 w 2104785"/>
              <a:gd name="connsiteY19" fmla="*/ 1682401 h 2291756"/>
              <a:gd name="connsiteX20" fmla="*/ 1896444 w 2104785"/>
              <a:gd name="connsiteY20" fmla="*/ 1670669 h 2291756"/>
              <a:gd name="connsiteX21" fmla="*/ 2014388 w 2104785"/>
              <a:gd name="connsiteY21" fmla="*/ 1360945 h 2291756"/>
              <a:gd name="connsiteX22" fmla="*/ 2023353 w 2104785"/>
              <a:gd name="connsiteY22" fmla="*/ 1284444 h 2291756"/>
              <a:gd name="connsiteX23" fmla="*/ 2104032 w 2104785"/>
              <a:gd name="connsiteY23" fmla="*/ 1308097 h 2291756"/>
              <a:gd name="connsiteX24" fmla="*/ 2094240 w 2104785"/>
              <a:gd name="connsiteY24" fmla="*/ 1392259 h 2291756"/>
              <a:gd name="connsiteX25" fmla="*/ 1461797 w 2104785"/>
              <a:gd name="connsiteY25" fmla="*/ 2121609 h 2291756"/>
              <a:gd name="connsiteX26" fmla="*/ 1322492 w 2104785"/>
              <a:gd name="connsiteY26" fmla="*/ 2185114 h 2291756"/>
              <a:gd name="connsiteX27" fmla="*/ 902329 w 2104785"/>
              <a:gd name="connsiteY27" fmla="*/ 2282718 h 2291756"/>
              <a:gd name="connsiteX28" fmla="*/ 503412 w 2104785"/>
              <a:gd name="connsiteY28" fmla="*/ 2094616 h 2291756"/>
              <a:gd name="connsiteX29" fmla="*/ 197197 w 2104785"/>
              <a:gd name="connsiteY29" fmla="*/ 1732912 h 2291756"/>
              <a:gd name="connsiteX30" fmla="*/ 24790 w 2104785"/>
              <a:gd name="connsiteY30" fmla="*/ 1263441 h 2291756"/>
              <a:gd name="connsiteX31" fmla="*/ 20509 w 2104785"/>
              <a:gd name="connsiteY31" fmla="*/ 772532 h 2291756"/>
              <a:gd name="connsiteX32" fmla="*/ 178862 w 2104785"/>
              <a:gd name="connsiteY32" fmla="*/ 383966 h 2291756"/>
              <a:gd name="connsiteX33" fmla="*/ 460322 w 2104785"/>
              <a:gd name="connsiteY33" fmla="*/ 133403 h 2291756"/>
              <a:gd name="connsiteX34" fmla="*/ 965287 w 2104785"/>
              <a:gd name="connsiteY34" fmla="*/ 907 h 2291756"/>
              <a:gd name="connsiteX35" fmla="*/ 1313979 w 2104785"/>
              <a:gd name="connsiteY35" fmla="*/ 30038 h 2291756"/>
              <a:gd name="connsiteX36" fmla="*/ 1622997 w 2104785"/>
              <a:gd name="connsiteY36" fmla="*/ 212429 h 2291756"/>
              <a:gd name="connsiteX37" fmla="*/ 1867331 w 2104785"/>
              <a:gd name="connsiteY37" fmla="*/ 619793 h 2291756"/>
              <a:gd name="connsiteX38" fmla="*/ 1912261 w 2104785"/>
              <a:gd name="connsiteY38" fmla="*/ 707619 h 2291756"/>
              <a:gd name="connsiteX39" fmla="*/ 2104032 w 2104785"/>
              <a:gd name="connsiteY39" fmla="*/ 1308097 h 229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104785" h="2291756">
                <a:moveTo>
                  <a:pt x="2023353" y="1284444"/>
                </a:moveTo>
                <a:cubicBezTo>
                  <a:pt x="2031943" y="1108744"/>
                  <a:pt x="1956528" y="949413"/>
                  <a:pt x="1845451" y="738354"/>
                </a:cubicBezTo>
                <a:cubicBezTo>
                  <a:pt x="1831266" y="711406"/>
                  <a:pt x="1817303" y="684501"/>
                  <a:pt x="1803825" y="658465"/>
                </a:cubicBezTo>
                <a:cubicBezTo>
                  <a:pt x="1730664" y="517322"/>
                  <a:pt x="1661547" y="384026"/>
                  <a:pt x="1577531" y="287879"/>
                </a:cubicBezTo>
                <a:cubicBezTo>
                  <a:pt x="1497216" y="195961"/>
                  <a:pt x="1409064" y="144710"/>
                  <a:pt x="1291674" y="121748"/>
                </a:cubicBezTo>
                <a:cubicBezTo>
                  <a:pt x="1181338" y="100166"/>
                  <a:pt x="1072971" y="91324"/>
                  <a:pt x="969299" y="94904"/>
                </a:cubicBezTo>
                <a:cubicBezTo>
                  <a:pt x="796509" y="100872"/>
                  <a:pt x="636753" y="141341"/>
                  <a:pt x="502626" y="214833"/>
                </a:cubicBezTo>
                <a:cubicBezTo>
                  <a:pt x="397658" y="272375"/>
                  <a:pt x="310190" y="348911"/>
                  <a:pt x="242694" y="442328"/>
                </a:cubicBezTo>
                <a:cubicBezTo>
                  <a:pt x="170713" y="542015"/>
                  <a:pt x="121575" y="660783"/>
                  <a:pt x="96707" y="795407"/>
                </a:cubicBezTo>
                <a:cubicBezTo>
                  <a:pt x="70339" y="938158"/>
                  <a:pt x="71822" y="1088362"/>
                  <a:pt x="101173" y="1241694"/>
                </a:cubicBezTo>
                <a:cubicBezTo>
                  <a:pt x="129656" y="1390988"/>
                  <a:pt x="184952" y="1538606"/>
                  <a:pt x="261039" y="1668667"/>
                </a:cubicBezTo>
                <a:cubicBezTo>
                  <a:pt x="280384" y="1701746"/>
                  <a:pt x="300855" y="1733478"/>
                  <a:pt x="322410" y="1763813"/>
                </a:cubicBezTo>
                <a:lnTo>
                  <a:pt x="346848" y="1795056"/>
                </a:lnTo>
                <a:lnTo>
                  <a:pt x="361092" y="1818185"/>
                </a:lnTo>
                <a:cubicBezTo>
                  <a:pt x="422597" y="1908754"/>
                  <a:pt x="493496" y="1986730"/>
                  <a:pt x="572684" y="2050800"/>
                </a:cubicBezTo>
                <a:cubicBezTo>
                  <a:pt x="680619" y="2138109"/>
                  <a:pt x="799219" y="2195149"/>
                  <a:pt x="925201" y="2220268"/>
                </a:cubicBezTo>
                <a:cubicBezTo>
                  <a:pt x="1052079" y="2245566"/>
                  <a:pt x="1135508" y="2208926"/>
                  <a:pt x="1297410" y="2130336"/>
                </a:cubicBezTo>
                <a:cubicBezTo>
                  <a:pt x="1336459" y="2111372"/>
                  <a:pt x="1376862" y="2091764"/>
                  <a:pt x="1420912" y="2072252"/>
                </a:cubicBezTo>
                <a:cubicBezTo>
                  <a:pt x="1631268" y="1979045"/>
                  <a:pt x="1775811" y="1866515"/>
                  <a:pt x="1868653" y="1718003"/>
                </a:cubicBezTo>
                <a:lnTo>
                  <a:pt x="1887533" y="1682401"/>
                </a:lnTo>
                <a:lnTo>
                  <a:pt x="1896444" y="1670669"/>
                </a:lnTo>
                <a:cubicBezTo>
                  <a:pt x="1954203" y="1581687"/>
                  <a:pt x="1992462" y="1479642"/>
                  <a:pt x="2014388" y="1360945"/>
                </a:cubicBezTo>
                <a:cubicBezTo>
                  <a:pt x="2019185" y="1334978"/>
                  <a:pt x="2022126" y="1309545"/>
                  <a:pt x="2023353" y="1284444"/>
                </a:cubicBezTo>
                <a:close/>
                <a:moveTo>
                  <a:pt x="2104032" y="1308097"/>
                </a:moveTo>
                <a:cubicBezTo>
                  <a:pt x="2102674" y="1335709"/>
                  <a:pt x="2099461" y="1363690"/>
                  <a:pt x="2094240" y="1392259"/>
                </a:cubicBezTo>
                <a:cubicBezTo>
                  <a:pt x="2030602" y="1740507"/>
                  <a:pt x="1841466" y="1958643"/>
                  <a:pt x="1461797" y="2121609"/>
                </a:cubicBezTo>
                <a:cubicBezTo>
                  <a:pt x="1412104" y="2142934"/>
                  <a:pt x="1366535" y="2164374"/>
                  <a:pt x="1322492" y="2185114"/>
                </a:cubicBezTo>
                <a:cubicBezTo>
                  <a:pt x="1139883" y="2271057"/>
                  <a:pt x="1045769" y="2311093"/>
                  <a:pt x="902329" y="2282718"/>
                </a:cubicBezTo>
                <a:cubicBezTo>
                  <a:pt x="759902" y="2254544"/>
                  <a:pt x="625692" y="2191232"/>
                  <a:pt x="503412" y="2094616"/>
                </a:cubicBezTo>
                <a:cubicBezTo>
                  <a:pt x="383798" y="2000079"/>
                  <a:pt x="280738" y="1878365"/>
                  <a:pt x="197197" y="1732912"/>
                </a:cubicBezTo>
                <a:cubicBezTo>
                  <a:pt x="115050" y="1589939"/>
                  <a:pt x="55417" y="1427629"/>
                  <a:pt x="24790" y="1263441"/>
                </a:cubicBezTo>
                <a:cubicBezTo>
                  <a:pt x="-6771" y="1094812"/>
                  <a:pt x="-8192" y="929591"/>
                  <a:pt x="20509" y="772532"/>
                </a:cubicBezTo>
                <a:cubicBezTo>
                  <a:pt x="47575" y="624415"/>
                  <a:pt x="100875" y="493710"/>
                  <a:pt x="178862" y="383966"/>
                </a:cubicBezTo>
                <a:cubicBezTo>
                  <a:pt x="251990" y="281125"/>
                  <a:pt x="346702" y="196829"/>
                  <a:pt x="460322" y="133403"/>
                </a:cubicBezTo>
                <a:cubicBezTo>
                  <a:pt x="605502" y="52397"/>
                  <a:pt x="778367" y="7684"/>
                  <a:pt x="965287" y="907"/>
                </a:cubicBezTo>
                <a:cubicBezTo>
                  <a:pt x="1077438" y="-3159"/>
                  <a:pt x="1194651" y="6433"/>
                  <a:pt x="1313979" y="30038"/>
                </a:cubicBezTo>
                <a:cubicBezTo>
                  <a:pt x="1440936" y="55151"/>
                  <a:pt x="1536230" y="111418"/>
                  <a:pt x="1622997" y="212429"/>
                </a:cubicBezTo>
                <a:cubicBezTo>
                  <a:pt x="1713761" y="318087"/>
                  <a:pt x="1788363" y="464627"/>
                  <a:pt x="1867331" y="619793"/>
                </a:cubicBezTo>
                <a:cubicBezTo>
                  <a:pt x="1881878" y="648416"/>
                  <a:pt x="1896949" y="677994"/>
                  <a:pt x="1912261" y="707619"/>
                </a:cubicBezTo>
                <a:cubicBezTo>
                  <a:pt x="2032157" y="939647"/>
                  <a:pt x="2113539" y="1114817"/>
                  <a:pt x="2104032" y="13080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49" name="Freeform: Shape 1048">
            <a:extLst>
              <a:ext uri="{FF2B5EF4-FFF2-40B4-BE49-F238E27FC236}">
                <a16:creationId xmlns:a16="http://schemas.microsoft.com/office/drawing/2014/main" id="{34E10184-A355-442D-9021-64F93505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1951" y="-11953"/>
            <a:ext cx="4152001" cy="3562347"/>
          </a:xfrm>
          <a:custGeom>
            <a:avLst/>
            <a:gdLst>
              <a:gd name="connsiteX0" fmla="*/ 305212 w 4069058"/>
              <a:gd name="connsiteY0" fmla="*/ 0 h 3547008"/>
              <a:gd name="connsiteX1" fmla="*/ 4069058 w 4069058"/>
              <a:gd name="connsiteY1" fmla="*/ 0 h 3547008"/>
              <a:gd name="connsiteX2" fmla="*/ 4069058 w 4069058"/>
              <a:gd name="connsiteY2" fmla="*/ 2865785 h 3547008"/>
              <a:gd name="connsiteX3" fmla="*/ 3996814 w 4069058"/>
              <a:gd name="connsiteY3" fmla="*/ 2947457 h 3547008"/>
              <a:gd name="connsiteX4" fmla="*/ 2732780 w 4069058"/>
              <a:gd name="connsiteY4" fmla="*/ 3541640 h 3547008"/>
              <a:gd name="connsiteX5" fmla="*/ 1317550 w 4069058"/>
              <a:gd name="connsiteY5" fmla="*/ 3015110 h 3547008"/>
              <a:gd name="connsiteX6" fmla="*/ 1140977 w 4069058"/>
              <a:gd name="connsiteY6" fmla="*/ 2901419 h 3547008"/>
              <a:gd name="connsiteX7" fmla="*/ 330269 w 4069058"/>
              <a:gd name="connsiteY7" fmla="*/ 2297252 h 3547008"/>
              <a:gd name="connsiteX8" fmla="*/ 13299 w 4069058"/>
              <a:gd name="connsiteY8" fmla="*/ 1599966 h 3547008"/>
              <a:gd name="connsiteX9" fmla="*/ 217457 w 4069058"/>
              <a:gd name="connsiteY9" fmla="*/ 178659 h 354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9058" h="3547008">
                <a:moveTo>
                  <a:pt x="305212" y="0"/>
                </a:moveTo>
                <a:lnTo>
                  <a:pt x="4069058" y="0"/>
                </a:lnTo>
                <a:lnTo>
                  <a:pt x="4069058" y="2865785"/>
                </a:lnTo>
                <a:lnTo>
                  <a:pt x="3996814" y="2947457"/>
                </a:lnTo>
                <a:cubicBezTo>
                  <a:pt x="3654887" y="3311545"/>
                  <a:pt x="3252443" y="3496175"/>
                  <a:pt x="2732780" y="3541640"/>
                </a:cubicBezTo>
                <a:cubicBezTo>
                  <a:pt x="2236701" y="3585041"/>
                  <a:pt x="1850359" y="3361306"/>
                  <a:pt x="1317550" y="3015110"/>
                </a:cubicBezTo>
                <a:cubicBezTo>
                  <a:pt x="1258026" y="2976425"/>
                  <a:pt x="1198546" y="2938265"/>
                  <a:pt x="1140977" y="2901419"/>
                </a:cubicBezTo>
                <a:cubicBezTo>
                  <a:pt x="828927" y="2701433"/>
                  <a:pt x="534230" y="2512513"/>
                  <a:pt x="330269" y="2297252"/>
                </a:cubicBezTo>
                <a:cubicBezTo>
                  <a:pt x="135278" y="2091465"/>
                  <a:pt x="37487" y="1876435"/>
                  <a:pt x="13299" y="1599966"/>
                </a:cubicBezTo>
                <a:cubicBezTo>
                  <a:pt x="-32170" y="1080250"/>
                  <a:pt x="39709" y="589889"/>
                  <a:pt x="217457" y="178659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32" name="Picture 8" descr="Explore 570+ Free Skiing Illustrations: Download Now - Pixabay">
            <a:extLst>
              <a:ext uri="{FF2B5EF4-FFF2-40B4-BE49-F238E27FC236}">
                <a16:creationId xmlns:a16="http://schemas.microsoft.com/office/drawing/2014/main" id="{C61904A4-6CCD-9CA5-2477-4605447F4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1" r="28175"/>
          <a:stretch>
            <a:fillRect/>
          </a:stretch>
        </p:blipFill>
        <p:spPr bwMode="auto">
          <a:xfrm>
            <a:off x="8253664" y="10"/>
            <a:ext cx="3938337" cy="3321585"/>
          </a:xfrm>
          <a:custGeom>
            <a:avLst/>
            <a:gdLst/>
            <a:ahLst/>
            <a:cxnLst/>
            <a:rect l="l" t="t" r="r" b="b"/>
            <a:pathLst>
              <a:path w="3938337" h="3321595">
                <a:moveTo>
                  <a:pt x="412520" y="0"/>
                </a:moveTo>
                <a:lnTo>
                  <a:pt x="3217629" y="0"/>
                </a:lnTo>
                <a:lnTo>
                  <a:pt x="3871410" y="0"/>
                </a:lnTo>
                <a:lnTo>
                  <a:pt x="3938337" y="0"/>
                </a:lnTo>
                <a:lnTo>
                  <a:pt x="3938337" y="59511"/>
                </a:lnTo>
                <a:lnTo>
                  <a:pt x="3938337" y="699247"/>
                </a:lnTo>
                <a:lnTo>
                  <a:pt x="3938337" y="2518435"/>
                </a:lnTo>
                <a:lnTo>
                  <a:pt x="3856842" y="2618704"/>
                </a:lnTo>
                <a:cubicBezTo>
                  <a:pt x="3439614" y="3108658"/>
                  <a:pt x="2979779" y="3321595"/>
                  <a:pt x="2362292" y="3321595"/>
                </a:cubicBezTo>
                <a:cubicBezTo>
                  <a:pt x="1899140" y="3321595"/>
                  <a:pt x="1559319" y="3095023"/>
                  <a:pt x="1093716" y="2749441"/>
                </a:cubicBezTo>
                <a:cubicBezTo>
                  <a:pt x="1041701" y="2710827"/>
                  <a:pt x="989684" y="2672676"/>
                  <a:pt x="939333" y="2635829"/>
                </a:cubicBezTo>
                <a:cubicBezTo>
                  <a:pt x="666418" y="2435869"/>
                  <a:pt x="408686" y="2246981"/>
                  <a:pt x="237160" y="2041901"/>
                </a:cubicBezTo>
                <a:cubicBezTo>
                  <a:pt x="73176" y="1845849"/>
                  <a:pt x="0" y="1649145"/>
                  <a:pt x="0" y="1404055"/>
                </a:cubicBezTo>
                <a:cubicBezTo>
                  <a:pt x="0" y="866538"/>
                  <a:pt x="144750" y="376466"/>
                  <a:pt x="410955" y="197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Freeform: Shape 1050">
            <a:extLst>
              <a:ext uri="{FF2B5EF4-FFF2-40B4-BE49-F238E27FC236}">
                <a16:creationId xmlns:a16="http://schemas.microsoft.com/office/drawing/2014/main" id="{E9A90DB4-81B2-4FF1-84D6-1B92B442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253663" y="0"/>
            <a:ext cx="3938337" cy="3321595"/>
          </a:xfrm>
          <a:custGeom>
            <a:avLst/>
            <a:gdLst>
              <a:gd name="connsiteX0" fmla="*/ 1166365 w 3938337"/>
              <a:gd name="connsiteY0" fmla="*/ 0 h 3321595"/>
              <a:gd name="connsiteX1" fmla="*/ 107576 w 3938337"/>
              <a:gd name="connsiteY1" fmla="*/ 0 h 3321595"/>
              <a:gd name="connsiteX2" fmla="*/ 66927 w 3938337"/>
              <a:gd name="connsiteY2" fmla="*/ 0 h 3321595"/>
              <a:gd name="connsiteX3" fmla="*/ 0 w 3938337"/>
              <a:gd name="connsiteY3" fmla="*/ 0 h 3321595"/>
              <a:gd name="connsiteX4" fmla="*/ 0 w 3938337"/>
              <a:gd name="connsiteY4" fmla="*/ 59511 h 3321595"/>
              <a:gd name="connsiteX5" fmla="*/ 0 w 3938337"/>
              <a:gd name="connsiteY5" fmla="*/ 155390 h 3321595"/>
              <a:gd name="connsiteX6" fmla="*/ 0 w 3938337"/>
              <a:gd name="connsiteY6" fmla="*/ 901114 h 3321595"/>
              <a:gd name="connsiteX7" fmla="*/ 4 w 3938337"/>
              <a:gd name="connsiteY7" fmla="*/ 901114 h 3321595"/>
              <a:gd name="connsiteX8" fmla="*/ 4 w 3938337"/>
              <a:gd name="connsiteY8" fmla="*/ 471771 h 3321595"/>
              <a:gd name="connsiteX9" fmla="*/ 50187 w 3938337"/>
              <a:gd name="connsiteY9" fmla="*/ 407556 h 3321595"/>
              <a:gd name="connsiteX10" fmla="*/ 352921 w 3938337"/>
              <a:gd name="connsiteY10" fmla="*/ 118259 h 3321595"/>
              <a:gd name="connsiteX11" fmla="*/ 514890 w 3938337"/>
              <a:gd name="connsiteY11" fmla="*/ 2 h 3321595"/>
              <a:gd name="connsiteX12" fmla="*/ 1166365 w 3938337"/>
              <a:gd name="connsiteY12" fmla="*/ 2 h 3321595"/>
              <a:gd name="connsiteX13" fmla="*/ 3525817 w 3938337"/>
              <a:gd name="connsiteY13" fmla="*/ 0 h 3321595"/>
              <a:gd name="connsiteX14" fmla="*/ 3384145 w 3938337"/>
              <a:gd name="connsiteY14" fmla="*/ 0 h 3321595"/>
              <a:gd name="connsiteX15" fmla="*/ 3385646 w 3938337"/>
              <a:gd name="connsiteY15" fmla="*/ 1904 h 3321595"/>
              <a:gd name="connsiteX16" fmla="*/ 3780089 w 3938337"/>
              <a:gd name="connsiteY16" fmla="*/ 1354125 h 3321595"/>
              <a:gd name="connsiteX17" fmla="*/ 3552458 w 3938337"/>
              <a:gd name="connsiteY17" fmla="*/ 1969288 h 3321595"/>
              <a:gd name="connsiteX18" fmla="*/ 3414534 w 3938337"/>
              <a:gd name="connsiteY18" fmla="*/ 2115111 h 3321595"/>
              <a:gd name="connsiteX19" fmla="*/ 3395732 w 3938337"/>
              <a:gd name="connsiteY19" fmla="*/ 2131585 h 3321595"/>
              <a:gd name="connsiteX20" fmla="*/ 3390273 w 3938337"/>
              <a:gd name="connsiteY20" fmla="*/ 2137223 h 3321595"/>
              <a:gd name="connsiteX21" fmla="*/ 3348116 w 3938337"/>
              <a:gd name="connsiteY21" fmla="*/ 2173305 h 3321595"/>
              <a:gd name="connsiteX22" fmla="*/ 3251972 w 3938337"/>
              <a:gd name="connsiteY22" fmla="*/ 2257543 h 3321595"/>
              <a:gd name="connsiteX23" fmla="*/ 2878500 w 3938337"/>
              <a:gd name="connsiteY23" fmla="*/ 2542096 h 3321595"/>
              <a:gd name="connsiteX24" fmla="*/ 2730320 w 3938337"/>
              <a:gd name="connsiteY24" fmla="*/ 2651667 h 3321595"/>
              <a:gd name="connsiteX25" fmla="*/ 1512716 w 3938337"/>
              <a:gd name="connsiteY25" fmla="*/ 3203474 h 3321595"/>
              <a:gd name="connsiteX26" fmla="*/ 78219 w 3938337"/>
              <a:gd name="connsiteY26" fmla="*/ 2525579 h 3321595"/>
              <a:gd name="connsiteX27" fmla="*/ 0 w 3938337"/>
              <a:gd name="connsiteY27" fmla="*/ 2428877 h 3321595"/>
              <a:gd name="connsiteX28" fmla="*/ 0 w 3938337"/>
              <a:gd name="connsiteY28" fmla="*/ 2518435 h 3321595"/>
              <a:gd name="connsiteX29" fmla="*/ 81495 w 3938337"/>
              <a:gd name="connsiteY29" fmla="*/ 2618704 h 3321595"/>
              <a:gd name="connsiteX30" fmla="*/ 1576046 w 3938337"/>
              <a:gd name="connsiteY30" fmla="*/ 3321595 h 3321595"/>
              <a:gd name="connsiteX31" fmla="*/ 2844621 w 3938337"/>
              <a:gd name="connsiteY31" fmla="*/ 2749441 h 3321595"/>
              <a:gd name="connsiteX32" fmla="*/ 2999005 w 3938337"/>
              <a:gd name="connsiteY32" fmla="*/ 2635829 h 3321595"/>
              <a:gd name="connsiteX33" fmla="*/ 3701177 w 3938337"/>
              <a:gd name="connsiteY33" fmla="*/ 2041901 h 3321595"/>
              <a:gd name="connsiteX34" fmla="*/ 3938337 w 3938337"/>
              <a:gd name="connsiteY34" fmla="*/ 1404055 h 3321595"/>
              <a:gd name="connsiteX35" fmla="*/ 3527383 w 3938337"/>
              <a:gd name="connsiteY35" fmla="*/ 1974 h 332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938337" h="3321595">
                <a:moveTo>
                  <a:pt x="1166365" y="0"/>
                </a:moveTo>
                <a:lnTo>
                  <a:pt x="107576" y="0"/>
                </a:lnTo>
                <a:lnTo>
                  <a:pt x="66927" y="0"/>
                </a:lnTo>
                <a:lnTo>
                  <a:pt x="0" y="0"/>
                </a:lnTo>
                <a:lnTo>
                  <a:pt x="0" y="59511"/>
                </a:lnTo>
                <a:lnTo>
                  <a:pt x="0" y="155390"/>
                </a:lnTo>
                <a:lnTo>
                  <a:pt x="0" y="901114"/>
                </a:lnTo>
                <a:lnTo>
                  <a:pt x="4" y="901114"/>
                </a:lnTo>
                <a:lnTo>
                  <a:pt x="4" y="471771"/>
                </a:lnTo>
                <a:lnTo>
                  <a:pt x="50187" y="407556"/>
                </a:lnTo>
                <a:cubicBezTo>
                  <a:pt x="138559" y="305382"/>
                  <a:pt x="239680" y="208703"/>
                  <a:pt x="352921" y="118259"/>
                </a:cubicBezTo>
                <a:lnTo>
                  <a:pt x="514890" y="2"/>
                </a:lnTo>
                <a:lnTo>
                  <a:pt x="1166365" y="2"/>
                </a:lnTo>
                <a:close/>
                <a:moveTo>
                  <a:pt x="3525817" y="0"/>
                </a:moveTo>
                <a:lnTo>
                  <a:pt x="3384145" y="0"/>
                </a:lnTo>
                <a:lnTo>
                  <a:pt x="3385646" y="1904"/>
                </a:lnTo>
                <a:cubicBezTo>
                  <a:pt x="3641155" y="363079"/>
                  <a:pt x="3780089" y="835723"/>
                  <a:pt x="3780089" y="1354125"/>
                </a:cubicBezTo>
                <a:cubicBezTo>
                  <a:pt x="3780089" y="1590500"/>
                  <a:pt x="3709854" y="1780209"/>
                  <a:pt x="3552458" y="1969288"/>
                </a:cubicBezTo>
                <a:cubicBezTo>
                  <a:pt x="3511300" y="2018735"/>
                  <a:pt x="3464970" y="2067206"/>
                  <a:pt x="3414534" y="2115111"/>
                </a:cubicBezTo>
                <a:lnTo>
                  <a:pt x="3395732" y="2131585"/>
                </a:lnTo>
                <a:lnTo>
                  <a:pt x="3390273" y="2137223"/>
                </a:lnTo>
                <a:lnTo>
                  <a:pt x="3348116" y="2173305"/>
                </a:lnTo>
                <a:lnTo>
                  <a:pt x="3251972" y="2257543"/>
                </a:lnTo>
                <a:cubicBezTo>
                  <a:pt x="3136805" y="2351916"/>
                  <a:pt x="3009474" y="2445671"/>
                  <a:pt x="2878500" y="2542096"/>
                </a:cubicBezTo>
                <a:cubicBezTo>
                  <a:pt x="2830172" y="2577632"/>
                  <a:pt x="2780245" y="2614426"/>
                  <a:pt x="2730320" y="2651667"/>
                </a:cubicBezTo>
                <a:cubicBezTo>
                  <a:pt x="2283426" y="2984960"/>
                  <a:pt x="1957258" y="3203474"/>
                  <a:pt x="1512716" y="3203474"/>
                </a:cubicBezTo>
                <a:cubicBezTo>
                  <a:pt x="920041" y="3203474"/>
                  <a:pt x="478682" y="2998110"/>
                  <a:pt x="78219" y="2525579"/>
                </a:cubicBezTo>
                <a:lnTo>
                  <a:pt x="0" y="2428877"/>
                </a:lnTo>
                <a:lnTo>
                  <a:pt x="0" y="2518435"/>
                </a:lnTo>
                <a:lnTo>
                  <a:pt x="81495" y="2618704"/>
                </a:lnTo>
                <a:cubicBezTo>
                  <a:pt x="498723" y="3108658"/>
                  <a:pt x="958559" y="3321595"/>
                  <a:pt x="1576046" y="3321595"/>
                </a:cubicBezTo>
                <a:cubicBezTo>
                  <a:pt x="2039197" y="3321595"/>
                  <a:pt x="2379018" y="3095023"/>
                  <a:pt x="2844621" y="2749441"/>
                </a:cubicBezTo>
                <a:cubicBezTo>
                  <a:pt x="2896636" y="2710827"/>
                  <a:pt x="2948653" y="2672676"/>
                  <a:pt x="2999005" y="2635829"/>
                </a:cubicBezTo>
                <a:cubicBezTo>
                  <a:pt x="3271919" y="2435869"/>
                  <a:pt x="3529651" y="2246981"/>
                  <a:pt x="3701177" y="2041901"/>
                </a:cubicBezTo>
                <a:cubicBezTo>
                  <a:pt x="3865161" y="1845849"/>
                  <a:pt x="3938337" y="1649145"/>
                  <a:pt x="3938337" y="1404055"/>
                </a:cubicBezTo>
                <a:cubicBezTo>
                  <a:pt x="3938337" y="866538"/>
                  <a:pt x="3793587" y="376466"/>
                  <a:pt x="3527383" y="197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53" name="Freeform: Shape 1052">
            <a:extLst>
              <a:ext uri="{FF2B5EF4-FFF2-40B4-BE49-F238E27FC236}">
                <a16:creationId xmlns:a16="http://schemas.microsoft.com/office/drawing/2014/main" id="{08AB37AC-1F68-48D6-90DE-F15E83CF3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57855"/>
            <a:ext cx="4211055" cy="4000145"/>
          </a:xfrm>
          <a:custGeom>
            <a:avLst/>
            <a:gdLst>
              <a:gd name="connsiteX0" fmla="*/ 1165310 w 4211055"/>
              <a:gd name="connsiteY0" fmla="*/ 990 h 4000145"/>
              <a:gd name="connsiteX1" fmla="*/ 2418078 w 4211055"/>
              <a:gd name="connsiteY1" fmla="*/ 367333 h 4000145"/>
              <a:gd name="connsiteX2" fmla="*/ 4174528 w 4211055"/>
              <a:gd name="connsiteY2" fmla="*/ 3871009 h 4000145"/>
              <a:gd name="connsiteX3" fmla="*/ 4145661 w 4211055"/>
              <a:gd name="connsiteY3" fmla="*/ 4000145 h 4000145"/>
              <a:gd name="connsiteX4" fmla="*/ 0 w 4211055"/>
              <a:gd name="connsiteY4" fmla="*/ 4000145 h 4000145"/>
              <a:gd name="connsiteX5" fmla="*/ 0 w 4211055"/>
              <a:gd name="connsiteY5" fmla="*/ 4000144 h 4000145"/>
              <a:gd name="connsiteX6" fmla="*/ 3932946 w 4211055"/>
              <a:gd name="connsiteY6" fmla="*/ 4000144 h 4000145"/>
              <a:gd name="connsiteX7" fmla="*/ 3985875 w 4211055"/>
              <a:gd name="connsiteY7" fmla="*/ 3757912 h 4000145"/>
              <a:gd name="connsiteX8" fmla="*/ 2314254 w 4211055"/>
              <a:gd name="connsiteY8" fmla="*/ 461503 h 4000145"/>
              <a:gd name="connsiteX9" fmla="*/ 1133823 w 4211055"/>
              <a:gd name="connsiteY9" fmla="*/ 110981 h 4000145"/>
              <a:gd name="connsiteX10" fmla="*/ 994619 w 4211055"/>
              <a:gd name="connsiteY10" fmla="*/ 110419 h 4000145"/>
              <a:gd name="connsiteX11" fmla="*/ 60036 w 4211055"/>
              <a:gd name="connsiteY11" fmla="*/ 330041 h 4000145"/>
              <a:gd name="connsiteX12" fmla="*/ 0 w 4211055"/>
              <a:gd name="connsiteY12" fmla="*/ 360008 h 4000145"/>
              <a:gd name="connsiteX13" fmla="*/ 0 w 4211055"/>
              <a:gd name="connsiteY13" fmla="*/ 251609 h 4000145"/>
              <a:gd name="connsiteX14" fmla="*/ 158783 w 4211055"/>
              <a:gd name="connsiteY14" fmla="*/ 182603 h 4000145"/>
              <a:gd name="connsiteX15" fmla="*/ 1165310 w 4211055"/>
              <a:gd name="connsiteY15" fmla="*/ 990 h 400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11055" h="4000145">
                <a:moveTo>
                  <a:pt x="1165310" y="990"/>
                </a:moveTo>
                <a:cubicBezTo>
                  <a:pt x="1578456" y="12730"/>
                  <a:pt x="2002082" y="129252"/>
                  <a:pt x="2418078" y="367333"/>
                </a:cubicBezTo>
                <a:cubicBezTo>
                  <a:pt x="3626917" y="1059170"/>
                  <a:pt x="4390740" y="2547253"/>
                  <a:pt x="4174528" y="3871009"/>
                </a:cubicBezTo>
                <a:lnTo>
                  <a:pt x="4145661" y="4000145"/>
                </a:lnTo>
                <a:lnTo>
                  <a:pt x="0" y="4000145"/>
                </a:lnTo>
                <a:lnTo>
                  <a:pt x="0" y="4000144"/>
                </a:lnTo>
                <a:lnTo>
                  <a:pt x="3932946" y="4000144"/>
                </a:lnTo>
                <a:lnTo>
                  <a:pt x="3985875" y="3757912"/>
                </a:lnTo>
                <a:cubicBezTo>
                  <a:pt x="4181907" y="2517281"/>
                  <a:pt x="3455171" y="1117132"/>
                  <a:pt x="2314254" y="461503"/>
                </a:cubicBezTo>
                <a:cubicBezTo>
                  <a:pt x="1921632" y="235883"/>
                  <a:pt x="1522506" y="124256"/>
                  <a:pt x="1133823" y="110981"/>
                </a:cubicBezTo>
                <a:cubicBezTo>
                  <a:pt x="1087262" y="109391"/>
                  <a:pt x="1040851" y="109212"/>
                  <a:pt x="994619" y="110419"/>
                </a:cubicBezTo>
                <a:cubicBezTo>
                  <a:pt x="670992" y="118859"/>
                  <a:pt x="356135" y="195139"/>
                  <a:pt x="60036" y="330041"/>
                </a:cubicBezTo>
                <a:lnTo>
                  <a:pt x="0" y="360008"/>
                </a:lnTo>
                <a:lnTo>
                  <a:pt x="0" y="251609"/>
                </a:lnTo>
                <a:lnTo>
                  <a:pt x="158783" y="182603"/>
                </a:lnTo>
                <a:cubicBezTo>
                  <a:pt x="479801" y="54981"/>
                  <a:pt x="818871" y="-8854"/>
                  <a:pt x="1165310" y="99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AD16A0-04FE-F7BE-523D-761BC5D481EE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</p:spTree>
    <p:extLst>
      <p:ext uri="{BB962C8B-B14F-4D97-AF65-F5344CB8AC3E}">
        <p14:creationId xmlns:p14="http://schemas.microsoft.com/office/powerpoint/2010/main" val="38882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FF51-8FA8-BDC9-9162-BD3E8F0C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22A6C26-4576-0128-7F43-12154E0C81B4}"/>
              </a:ext>
            </a:extLst>
          </p:cNvPr>
          <p:cNvSpPr txBox="1"/>
          <p:nvPr/>
        </p:nvSpPr>
        <p:spPr>
          <a:xfrm>
            <a:off x="471276" y="826095"/>
            <a:ext cx="1013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/>
              <a:t>Concept: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1FB289-E1FA-C9C7-4A55-EE94E92970B9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ACD5BFC-4352-740E-8FE8-34DE53A17F8E}"/>
              </a:ext>
            </a:extLst>
          </p:cNvPr>
          <p:cNvSpPr txBox="1"/>
          <p:nvPr/>
        </p:nvSpPr>
        <p:spPr>
          <a:xfrm>
            <a:off x="558074" y="1473718"/>
            <a:ext cx="97264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Collecter les données issues d’un smartphone Android et les transmettre en temps réel vers une interface web, afin de les afficher sous forme de widgets dans un cockpit de supervision.</a:t>
            </a:r>
          </a:p>
          <a:p>
            <a:endParaRPr lang="fr-CH" dirty="0"/>
          </a:p>
        </p:txBody>
      </p:sp>
      <p:pic>
        <p:nvPicPr>
          <p:cNvPr id="9" name="Image 8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BFA0C94B-2ED5-08A4-8B09-A13B37A988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12"/>
          <a:stretch>
            <a:fillRect/>
          </a:stretch>
        </p:blipFill>
        <p:spPr>
          <a:xfrm>
            <a:off x="6636775" y="2740776"/>
            <a:ext cx="4667790" cy="3463379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56BDF835-630B-013F-E8BF-6A1B5AB0532D}"/>
              </a:ext>
            </a:extLst>
          </p:cNvPr>
          <p:cNvGrpSpPr/>
          <p:nvPr/>
        </p:nvGrpSpPr>
        <p:grpSpPr>
          <a:xfrm>
            <a:off x="1739695" y="3137004"/>
            <a:ext cx="1181100" cy="2488565"/>
            <a:chOff x="1057275" y="0"/>
            <a:chExt cx="1181100" cy="2488565"/>
          </a:xfrm>
        </p:grpSpPr>
        <p:pic>
          <p:nvPicPr>
            <p:cNvPr id="12" name="Image 11" descr="1 124 400+ Telephone Cellulaire Stock Illustrations, graphiques vectoriels  libre de droits et Clip Art - iStock | Message sms, Iphone, Téléphone">
              <a:extLst>
                <a:ext uri="{FF2B5EF4-FFF2-40B4-BE49-F238E27FC236}">
                  <a16:creationId xmlns:a16="http://schemas.microsoft.com/office/drawing/2014/main" id="{35C04525-A031-054A-B459-67EE7B5867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36" r="30059"/>
            <a:stretch>
              <a:fillRect/>
            </a:stretch>
          </p:blipFill>
          <p:spPr bwMode="auto">
            <a:xfrm>
              <a:off x="1057275" y="0"/>
              <a:ext cx="1181100" cy="2488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5DDFFB12-F07A-E1F7-9039-D7742719626B}"/>
                </a:ext>
              </a:extLst>
            </p:cNvPr>
            <p:cNvSpPr/>
            <p:nvPr/>
          </p:nvSpPr>
          <p:spPr>
            <a:xfrm>
              <a:off x="1171575" y="1133475"/>
              <a:ext cx="828675" cy="381000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CH" sz="1100" b="1">
                  <a:solidFill>
                    <a:srgbClr val="000000"/>
                  </a:solidFill>
                  <a:effectLst/>
                  <a:ea typeface="Arial" panose="020B0604020202020204" pitchFamily="34" charset="0"/>
                  <a:cs typeface="Times New Roman" panose="02020603050405020304" pitchFamily="18" charset="0"/>
                </a:rPr>
                <a:t>START</a:t>
              </a:r>
              <a:endParaRPr lang="fr-CH" sz="1100">
                <a:effectLst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Flèche : droite rayée 13">
            <a:extLst>
              <a:ext uri="{FF2B5EF4-FFF2-40B4-BE49-F238E27FC236}">
                <a16:creationId xmlns:a16="http://schemas.microsoft.com/office/drawing/2014/main" id="{D02ADF0A-8BCE-8A82-3B8E-7F18190D7F8B}"/>
              </a:ext>
            </a:extLst>
          </p:cNvPr>
          <p:cNvSpPr/>
          <p:nvPr/>
        </p:nvSpPr>
        <p:spPr>
          <a:xfrm>
            <a:off x="3659471" y="3665668"/>
            <a:ext cx="2739179" cy="1718614"/>
          </a:xfrm>
          <a:prstGeom prst="stripedRightArrow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9067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7B1C-02F0-4CBC-2A09-7D4CA899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B040F5D9-4701-4E43-8BCA-7B212154CD4B}"/>
              </a:ext>
            </a:extLst>
          </p:cNvPr>
          <p:cNvSpPr txBox="1"/>
          <p:nvPr/>
        </p:nvSpPr>
        <p:spPr>
          <a:xfrm>
            <a:off x="471276" y="826095"/>
            <a:ext cx="1013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/>
              <a:t>Architecture: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310052B-0536-06B5-5D8A-2408113AC148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92986F91-6807-B639-9D70-D7E7815B1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924" y="1226894"/>
            <a:ext cx="7388151" cy="52388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695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19F5-1601-FCE7-E29D-840978BC2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7B41D24-FD80-0B7E-8A50-BF90F43FA334}"/>
              </a:ext>
            </a:extLst>
          </p:cNvPr>
          <p:cNvSpPr txBox="1"/>
          <p:nvPr/>
        </p:nvSpPr>
        <p:spPr>
          <a:xfrm>
            <a:off x="471276" y="826095"/>
            <a:ext cx="1013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/>
              <a:t>Architecture: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DE9CB0D-B507-7991-26B9-77ADC740C42F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BD0F02-09CF-4313-8E33-9C10E694E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11" y="1701968"/>
            <a:ext cx="2122536" cy="345406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5BEDDC1-876F-4322-8455-5FDD8B056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167" y="219919"/>
            <a:ext cx="2859014" cy="6245846"/>
          </a:xfrm>
          <a:prstGeom prst="rect">
            <a:avLst/>
          </a:prstGeom>
          <a:ln w="38100" cap="flat">
            <a:solidFill>
              <a:schemeClr val="tx1"/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859014"/>
                      <a:gd name="connsiteY0" fmla="*/ 0 h 6245846"/>
                      <a:gd name="connsiteX1" fmla="*/ 600393 w 2859014"/>
                      <a:gd name="connsiteY1" fmla="*/ 0 h 6245846"/>
                      <a:gd name="connsiteX2" fmla="*/ 1229376 w 2859014"/>
                      <a:gd name="connsiteY2" fmla="*/ 0 h 6245846"/>
                      <a:gd name="connsiteX3" fmla="*/ 1743999 w 2859014"/>
                      <a:gd name="connsiteY3" fmla="*/ 0 h 6245846"/>
                      <a:gd name="connsiteX4" fmla="*/ 2344391 w 2859014"/>
                      <a:gd name="connsiteY4" fmla="*/ 0 h 6245846"/>
                      <a:gd name="connsiteX5" fmla="*/ 2859014 w 2859014"/>
                      <a:gd name="connsiteY5" fmla="*/ 0 h 6245846"/>
                      <a:gd name="connsiteX6" fmla="*/ 2859014 w 2859014"/>
                      <a:gd name="connsiteY6" fmla="*/ 567804 h 6245846"/>
                      <a:gd name="connsiteX7" fmla="*/ 2859014 w 2859014"/>
                      <a:gd name="connsiteY7" fmla="*/ 1135608 h 6245846"/>
                      <a:gd name="connsiteX8" fmla="*/ 2859014 w 2859014"/>
                      <a:gd name="connsiteY8" fmla="*/ 1578496 h 6245846"/>
                      <a:gd name="connsiteX9" fmla="*/ 2859014 w 2859014"/>
                      <a:gd name="connsiteY9" fmla="*/ 2271217 h 6245846"/>
                      <a:gd name="connsiteX10" fmla="*/ 2859014 w 2859014"/>
                      <a:gd name="connsiteY10" fmla="*/ 2839021 h 6245846"/>
                      <a:gd name="connsiteX11" fmla="*/ 2859014 w 2859014"/>
                      <a:gd name="connsiteY11" fmla="*/ 3531742 h 6245846"/>
                      <a:gd name="connsiteX12" fmla="*/ 2859014 w 2859014"/>
                      <a:gd name="connsiteY12" fmla="*/ 4162005 h 6245846"/>
                      <a:gd name="connsiteX13" fmla="*/ 2859014 w 2859014"/>
                      <a:gd name="connsiteY13" fmla="*/ 4667350 h 6245846"/>
                      <a:gd name="connsiteX14" fmla="*/ 2859014 w 2859014"/>
                      <a:gd name="connsiteY14" fmla="*/ 5297613 h 6245846"/>
                      <a:gd name="connsiteX15" fmla="*/ 2859014 w 2859014"/>
                      <a:gd name="connsiteY15" fmla="*/ 5740500 h 6245846"/>
                      <a:gd name="connsiteX16" fmla="*/ 2859014 w 2859014"/>
                      <a:gd name="connsiteY16" fmla="*/ 6245846 h 6245846"/>
                      <a:gd name="connsiteX17" fmla="*/ 2372982 w 2859014"/>
                      <a:gd name="connsiteY17" fmla="*/ 6245846 h 6245846"/>
                      <a:gd name="connsiteX18" fmla="*/ 1743999 w 2859014"/>
                      <a:gd name="connsiteY18" fmla="*/ 6245846 h 6245846"/>
                      <a:gd name="connsiteX19" fmla="*/ 1143606 w 2859014"/>
                      <a:gd name="connsiteY19" fmla="*/ 6245846 h 6245846"/>
                      <a:gd name="connsiteX20" fmla="*/ 543213 w 2859014"/>
                      <a:gd name="connsiteY20" fmla="*/ 6245846 h 6245846"/>
                      <a:gd name="connsiteX21" fmla="*/ 0 w 2859014"/>
                      <a:gd name="connsiteY21" fmla="*/ 6245846 h 6245846"/>
                      <a:gd name="connsiteX22" fmla="*/ 0 w 2859014"/>
                      <a:gd name="connsiteY22" fmla="*/ 5802959 h 6245846"/>
                      <a:gd name="connsiteX23" fmla="*/ 0 w 2859014"/>
                      <a:gd name="connsiteY23" fmla="*/ 5235155 h 6245846"/>
                      <a:gd name="connsiteX24" fmla="*/ 0 w 2859014"/>
                      <a:gd name="connsiteY24" fmla="*/ 4667350 h 6245846"/>
                      <a:gd name="connsiteX25" fmla="*/ 0 w 2859014"/>
                      <a:gd name="connsiteY25" fmla="*/ 4286922 h 6245846"/>
                      <a:gd name="connsiteX26" fmla="*/ 0 w 2859014"/>
                      <a:gd name="connsiteY26" fmla="*/ 3656659 h 6245846"/>
                      <a:gd name="connsiteX27" fmla="*/ 0 w 2859014"/>
                      <a:gd name="connsiteY27" fmla="*/ 3276230 h 6245846"/>
                      <a:gd name="connsiteX28" fmla="*/ 0 w 2859014"/>
                      <a:gd name="connsiteY28" fmla="*/ 2708426 h 6245846"/>
                      <a:gd name="connsiteX29" fmla="*/ 0 w 2859014"/>
                      <a:gd name="connsiteY29" fmla="*/ 2015705 h 6245846"/>
                      <a:gd name="connsiteX30" fmla="*/ 0 w 2859014"/>
                      <a:gd name="connsiteY30" fmla="*/ 1322984 h 6245846"/>
                      <a:gd name="connsiteX31" fmla="*/ 0 w 2859014"/>
                      <a:gd name="connsiteY31" fmla="*/ 692721 h 6245846"/>
                      <a:gd name="connsiteX32" fmla="*/ 0 w 2859014"/>
                      <a:gd name="connsiteY32" fmla="*/ 0 h 6245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2859014" h="6245846" fill="none" extrusionOk="0">
                        <a:moveTo>
                          <a:pt x="0" y="0"/>
                        </a:moveTo>
                        <a:cubicBezTo>
                          <a:pt x="195464" y="-5179"/>
                          <a:pt x="330210" y="68801"/>
                          <a:pt x="600393" y="0"/>
                        </a:cubicBezTo>
                        <a:cubicBezTo>
                          <a:pt x="870576" y="-68801"/>
                          <a:pt x="1071126" y="39031"/>
                          <a:pt x="1229376" y="0"/>
                        </a:cubicBezTo>
                        <a:cubicBezTo>
                          <a:pt x="1387626" y="-39031"/>
                          <a:pt x="1498341" y="13406"/>
                          <a:pt x="1743999" y="0"/>
                        </a:cubicBezTo>
                        <a:cubicBezTo>
                          <a:pt x="1989657" y="-13406"/>
                          <a:pt x="2206595" y="18368"/>
                          <a:pt x="2344391" y="0"/>
                        </a:cubicBezTo>
                        <a:cubicBezTo>
                          <a:pt x="2482187" y="-18368"/>
                          <a:pt x="2669934" y="25982"/>
                          <a:pt x="2859014" y="0"/>
                        </a:cubicBezTo>
                        <a:cubicBezTo>
                          <a:pt x="2914274" y="125524"/>
                          <a:pt x="2828301" y="304798"/>
                          <a:pt x="2859014" y="567804"/>
                        </a:cubicBezTo>
                        <a:cubicBezTo>
                          <a:pt x="2889727" y="830810"/>
                          <a:pt x="2816177" y="963026"/>
                          <a:pt x="2859014" y="1135608"/>
                        </a:cubicBezTo>
                        <a:cubicBezTo>
                          <a:pt x="2901851" y="1308190"/>
                          <a:pt x="2834473" y="1416384"/>
                          <a:pt x="2859014" y="1578496"/>
                        </a:cubicBezTo>
                        <a:cubicBezTo>
                          <a:pt x="2883555" y="1740608"/>
                          <a:pt x="2818505" y="2030242"/>
                          <a:pt x="2859014" y="2271217"/>
                        </a:cubicBezTo>
                        <a:cubicBezTo>
                          <a:pt x="2899523" y="2512192"/>
                          <a:pt x="2829599" y="2694132"/>
                          <a:pt x="2859014" y="2839021"/>
                        </a:cubicBezTo>
                        <a:cubicBezTo>
                          <a:pt x="2888429" y="2983910"/>
                          <a:pt x="2815693" y="3384485"/>
                          <a:pt x="2859014" y="3531742"/>
                        </a:cubicBezTo>
                        <a:cubicBezTo>
                          <a:pt x="2902335" y="3678999"/>
                          <a:pt x="2838474" y="3913554"/>
                          <a:pt x="2859014" y="4162005"/>
                        </a:cubicBezTo>
                        <a:cubicBezTo>
                          <a:pt x="2879554" y="4410456"/>
                          <a:pt x="2804011" y="4508055"/>
                          <a:pt x="2859014" y="4667350"/>
                        </a:cubicBezTo>
                        <a:cubicBezTo>
                          <a:pt x="2914017" y="4826645"/>
                          <a:pt x="2794415" y="5010814"/>
                          <a:pt x="2859014" y="5297613"/>
                        </a:cubicBezTo>
                        <a:cubicBezTo>
                          <a:pt x="2923613" y="5584412"/>
                          <a:pt x="2847934" y="5595390"/>
                          <a:pt x="2859014" y="5740500"/>
                        </a:cubicBezTo>
                        <a:cubicBezTo>
                          <a:pt x="2870094" y="5885610"/>
                          <a:pt x="2857224" y="6006817"/>
                          <a:pt x="2859014" y="6245846"/>
                        </a:cubicBezTo>
                        <a:cubicBezTo>
                          <a:pt x="2697176" y="6253543"/>
                          <a:pt x="2486369" y="6230001"/>
                          <a:pt x="2372982" y="6245846"/>
                        </a:cubicBezTo>
                        <a:cubicBezTo>
                          <a:pt x="2259595" y="6261691"/>
                          <a:pt x="2040178" y="6242720"/>
                          <a:pt x="1743999" y="6245846"/>
                        </a:cubicBezTo>
                        <a:cubicBezTo>
                          <a:pt x="1447820" y="6248972"/>
                          <a:pt x="1394859" y="6175923"/>
                          <a:pt x="1143606" y="6245846"/>
                        </a:cubicBezTo>
                        <a:cubicBezTo>
                          <a:pt x="892353" y="6315769"/>
                          <a:pt x="790000" y="6205537"/>
                          <a:pt x="543213" y="6245846"/>
                        </a:cubicBezTo>
                        <a:cubicBezTo>
                          <a:pt x="296426" y="6286155"/>
                          <a:pt x="251301" y="6208525"/>
                          <a:pt x="0" y="6245846"/>
                        </a:cubicBezTo>
                        <a:cubicBezTo>
                          <a:pt x="-6869" y="6028839"/>
                          <a:pt x="4976" y="5958266"/>
                          <a:pt x="0" y="5802959"/>
                        </a:cubicBezTo>
                        <a:cubicBezTo>
                          <a:pt x="-4976" y="5647652"/>
                          <a:pt x="33847" y="5450355"/>
                          <a:pt x="0" y="5235155"/>
                        </a:cubicBezTo>
                        <a:cubicBezTo>
                          <a:pt x="-33847" y="5019955"/>
                          <a:pt x="60147" y="4812535"/>
                          <a:pt x="0" y="4667350"/>
                        </a:cubicBezTo>
                        <a:cubicBezTo>
                          <a:pt x="-60147" y="4522165"/>
                          <a:pt x="22996" y="4424726"/>
                          <a:pt x="0" y="4286922"/>
                        </a:cubicBezTo>
                        <a:cubicBezTo>
                          <a:pt x="-22996" y="4149118"/>
                          <a:pt x="35413" y="3806871"/>
                          <a:pt x="0" y="3656659"/>
                        </a:cubicBezTo>
                        <a:cubicBezTo>
                          <a:pt x="-35413" y="3506447"/>
                          <a:pt x="8214" y="3442223"/>
                          <a:pt x="0" y="3276230"/>
                        </a:cubicBezTo>
                        <a:cubicBezTo>
                          <a:pt x="-8214" y="3110237"/>
                          <a:pt x="3046" y="2907822"/>
                          <a:pt x="0" y="2708426"/>
                        </a:cubicBezTo>
                        <a:cubicBezTo>
                          <a:pt x="-3046" y="2509030"/>
                          <a:pt x="26152" y="2259588"/>
                          <a:pt x="0" y="2015705"/>
                        </a:cubicBezTo>
                        <a:cubicBezTo>
                          <a:pt x="-26152" y="1771822"/>
                          <a:pt x="58943" y="1581500"/>
                          <a:pt x="0" y="1322984"/>
                        </a:cubicBezTo>
                        <a:cubicBezTo>
                          <a:pt x="-58943" y="1064468"/>
                          <a:pt x="56767" y="862815"/>
                          <a:pt x="0" y="692721"/>
                        </a:cubicBezTo>
                        <a:cubicBezTo>
                          <a:pt x="-56767" y="522627"/>
                          <a:pt x="8399" y="299064"/>
                          <a:pt x="0" y="0"/>
                        </a:cubicBezTo>
                        <a:close/>
                      </a:path>
                      <a:path w="2859014" h="6245846" stroke="0" extrusionOk="0">
                        <a:moveTo>
                          <a:pt x="0" y="0"/>
                        </a:moveTo>
                        <a:cubicBezTo>
                          <a:pt x="198013" y="-60798"/>
                          <a:pt x="376162" y="1876"/>
                          <a:pt x="543213" y="0"/>
                        </a:cubicBezTo>
                        <a:cubicBezTo>
                          <a:pt x="710264" y="-1876"/>
                          <a:pt x="815481" y="21397"/>
                          <a:pt x="1029245" y="0"/>
                        </a:cubicBezTo>
                        <a:cubicBezTo>
                          <a:pt x="1243009" y="-21397"/>
                          <a:pt x="1357996" y="37258"/>
                          <a:pt x="1658228" y="0"/>
                        </a:cubicBezTo>
                        <a:cubicBezTo>
                          <a:pt x="1958460" y="-37258"/>
                          <a:pt x="2055031" y="64567"/>
                          <a:pt x="2201441" y="0"/>
                        </a:cubicBezTo>
                        <a:cubicBezTo>
                          <a:pt x="2347851" y="-64567"/>
                          <a:pt x="2625944" y="66288"/>
                          <a:pt x="2859014" y="0"/>
                        </a:cubicBezTo>
                        <a:cubicBezTo>
                          <a:pt x="2936731" y="241226"/>
                          <a:pt x="2829462" y="528525"/>
                          <a:pt x="2859014" y="692721"/>
                        </a:cubicBezTo>
                        <a:cubicBezTo>
                          <a:pt x="2888566" y="856917"/>
                          <a:pt x="2824740" y="1065554"/>
                          <a:pt x="2859014" y="1260525"/>
                        </a:cubicBezTo>
                        <a:cubicBezTo>
                          <a:pt x="2893288" y="1455496"/>
                          <a:pt x="2824488" y="1654281"/>
                          <a:pt x="2859014" y="1828329"/>
                        </a:cubicBezTo>
                        <a:cubicBezTo>
                          <a:pt x="2893540" y="2002377"/>
                          <a:pt x="2848216" y="2061983"/>
                          <a:pt x="2859014" y="2271217"/>
                        </a:cubicBezTo>
                        <a:cubicBezTo>
                          <a:pt x="2869812" y="2480451"/>
                          <a:pt x="2846070" y="2503366"/>
                          <a:pt x="2859014" y="2714104"/>
                        </a:cubicBezTo>
                        <a:cubicBezTo>
                          <a:pt x="2871958" y="2924842"/>
                          <a:pt x="2818524" y="3101488"/>
                          <a:pt x="2859014" y="3281908"/>
                        </a:cubicBezTo>
                        <a:cubicBezTo>
                          <a:pt x="2899504" y="3462328"/>
                          <a:pt x="2853635" y="3707209"/>
                          <a:pt x="2859014" y="3912171"/>
                        </a:cubicBezTo>
                        <a:cubicBezTo>
                          <a:pt x="2864393" y="4117133"/>
                          <a:pt x="2841498" y="4202222"/>
                          <a:pt x="2859014" y="4292600"/>
                        </a:cubicBezTo>
                        <a:cubicBezTo>
                          <a:pt x="2876530" y="4382978"/>
                          <a:pt x="2819360" y="4736852"/>
                          <a:pt x="2859014" y="4860404"/>
                        </a:cubicBezTo>
                        <a:cubicBezTo>
                          <a:pt x="2898668" y="4983956"/>
                          <a:pt x="2833481" y="5253920"/>
                          <a:pt x="2859014" y="5428208"/>
                        </a:cubicBezTo>
                        <a:cubicBezTo>
                          <a:pt x="2884547" y="5602496"/>
                          <a:pt x="2786263" y="6079278"/>
                          <a:pt x="2859014" y="6245846"/>
                        </a:cubicBezTo>
                        <a:cubicBezTo>
                          <a:pt x="2575226" y="6299916"/>
                          <a:pt x="2409206" y="6210665"/>
                          <a:pt x="2258621" y="6245846"/>
                        </a:cubicBezTo>
                        <a:cubicBezTo>
                          <a:pt x="2108036" y="6281027"/>
                          <a:pt x="1876485" y="6216564"/>
                          <a:pt x="1686818" y="6245846"/>
                        </a:cubicBezTo>
                        <a:cubicBezTo>
                          <a:pt x="1497151" y="6275128"/>
                          <a:pt x="1332629" y="6196433"/>
                          <a:pt x="1200786" y="6245846"/>
                        </a:cubicBezTo>
                        <a:cubicBezTo>
                          <a:pt x="1068943" y="6295259"/>
                          <a:pt x="927545" y="6198619"/>
                          <a:pt x="686163" y="6245846"/>
                        </a:cubicBezTo>
                        <a:cubicBezTo>
                          <a:pt x="444781" y="6293073"/>
                          <a:pt x="341959" y="6218323"/>
                          <a:pt x="0" y="6245846"/>
                        </a:cubicBezTo>
                        <a:cubicBezTo>
                          <a:pt x="-32214" y="5966334"/>
                          <a:pt x="53065" y="5887230"/>
                          <a:pt x="0" y="5678042"/>
                        </a:cubicBezTo>
                        <a:cubicBezTo>
                          <a:pt x="-53065" y="5468854"/>
                          <a:pt x="19957" y="5311108"/>
                          <a:pt x="0" y="5110238"/>
                        </a:cubicBezTo>
                        <a:cubicBezTo>
                          <a:pt x="-19957" y="4909368"/>
                          <a:pt x="6263" y="4706404"/>
                          <a:pt x="0" y="4604892"/>
                        </a:cubicBezTo>
                        <a:cubicBezTo>
                          <a:pt x="-6263" y="4503380"/>
                          <a:pt x="37699" y="4406714"/>
                          <a:pt x="0" y="4224463"/>
                        </a:cubicBezTo>
                        <a:cubicBezTo>
                          <a:pt x="-37699" y="4042212"/>
                          <a:pt x="7952" y="3929217"/>
                          <a:pt x="0" y="3844034"/>
                        </a:cubicBezTo>
                        <a:cubicBezTo>
                          <a:pt x="-7952" y="3758851"/>
                          <a:pt x="26951" y="3516129"/>
                          <a:pt x="0" y="3213772"/>
                        </a:cubicBezTo>
                        <a:cubicBezTo>
                          <a:pt x="-26951" y="2911415"/>
                          <a:pt x="34606" y="2940686"/>
                          <a:pt x="0" y="2770884"/>
                        </a:cubicBezTo>
                        <a:cubicBezTo>
                          <a:pt x="-34606" y="2601082"/>
                          <a:pt x="23153" y="2386847"/>
                          <a:pt x="0" y="2078163"/>
                        </a:cubicBezTo>
                        <a:cubicBezTo>
                          <a:pt x="-23153" y="1769479"/>
                          <a:pt x="40076" y="1783480"/>
                          <a:pt x="0" y="1572818"/>
                        </a:cubicBezTo>
                        <a:cubicBezTo>
                          <a:pt x="-40076" y="1362157"/>
                          <a:pt x="12280" y="1289881"/>
                          <a:pt x="0" y="1192389"/>
                        </a:cubicBezTo>
                        <a:cubicBezTo>
                          <a:pt x="-12280" y="1094897"/>
                          <a:pt x="53422" y="829183"/>
                          <a:pt x="0" y="562126"/>
                        </a:cubicBezTo>
                        <a:cubicBezTo>
                          <a:pt x="-53422" y="295069"/>
                          <a:pt x="57587" y="24734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78DA315-E7D3-4BA8-8B40-F5FF149396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528" y="220470"/>
            <a:ext cx="2915057" cy="1247949"/>
          </a:xfrm>
          <a:prstGeom prst="rect">
            <a:avLst/>
          </a:prstGeom>
          <a:ln w="38100" cap="flat">
            <a:solidFill>
              <a:srgbClr val="00A537"/>
            </a:solidFill>
            <a:prstDash val="sysDot"/>
          </a:ln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88FB63AE-ED32-436B-BAA0-0E7C06706C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812" y="226366"/>
            <a:ext cx="3128591" cy="5755653"/>
          </a:xfrm>
          <a:prstGeom prst="rect">
            <a:avLst/>
          </a:prstGeom>
          <a:ln w="38100" cap="flat">
            <a:solidFill>
              <a:srgbClr val="10B3F0"/>
            </a:solidFill>
            <a:prstDash val="sysDot"/>
            <a:round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5E2E6FC-0CD0-4860-AC80-9E21309692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78" y="2200128"/>
            <a:ext cx="2921897" cy="2071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A44BD4D-CBFB-4FFA-848F-30FC5E9949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528" y="4851214"/>
            <a:ext cx="2514951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3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3974-4885-5BC4-7034-4D006B44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E139E97-8169-5C53-99D4-8FD92FF0AC92}"/>
              </a:ext>
            </a:extLst>
          </p:cNvPr>
          <p:cNvSpPr txBox="1"/>
          <p:nvPr/>
        </p:nvSpPr>
        <p:spPr>
          <a:xfrm>
            <a:off x="453494" y="870500"/>
            <a:ext cx="10062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/>
              <a:t>Technologies utilisées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30ED00-E187-F173-A6E9-2F7575384BD6}"/>
              </a:ext>
            </a:extLst>
          </p:cNvPr>
          <p:cNvSpPr txBox="1"/>
          <p:nvPr/>
        </p:nvSpPr>
        <p:spPr>
          <a:xfrm>
            <a:off x="765916" y="1535981"/>
            <a:ext cx="101315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JavaScript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HTML5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CSS3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Websocket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WebRTC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Node JS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Render.com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GIT/GITHUB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GITHUB pages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Smartphone Android</a:t>
            </a:r>
          </a:p>
        </p:txBody>
      </p:sp>
      <p:pic>
        <p:nvPicPr>
          <p:cNvPr id="2050" name="Picture 2" descr="icône de ligne de concept de technologie numérique. signe d'engrenage du  pictogramme linéaire de la">
            <a:extLst>
              <a:ext uri="{FF2B5EF4-FFF2-40B4-BE49-F238E27FC236}">
                <a16:creationId xmlns:a16="http://schemas.microsoft.com/office/drawing/2014/main" id="{D5531F29-8451-E4F0-A0C9-1530C55DAF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6" t="22678" r="15692" b="19764"/>
          <a:stretch>
            <a:fillRect/>
          </a:stretch>
        </p:blipFill>
        <p:spPr bwMode="auto">
          <a:xfrm>
            <a:off x="6705598" y="1605666"/>
            <a:ext cx="4424517" cy="371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C686710-0642-B9FA-C066-ECE3F54A0B9A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</p:spTree>
    <p:extLst>
      <p:ext uri="{BB962C8B-B14F-4D97-AF65-F5344CB8AC3E}">
        <p14:creationId xmlns:p14="http://schemas.microsoft.com/office/powerpoint/2010/main" val="306215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B9DB-EB48-E8DB-F9F2-EE9100630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logo, Graphique, Police, symbole&#10;&#10;Le contenu généré par l’IA peut être incorrect.">
            <a:extLst>
              <a:ext uri="{FF2B5EF4-FFF2-40B4-BE49-F238E27FC236}">
                <a16:creationId xmlns:a16="http://schemas.microsoft.com/office/drawing/2014/main" id="{FCA77BD3-F78A-98D8-EED7-7E83B3BA5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39" y="1528269"/>
            <a:ext cx="3659921" cy="338828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913D426-DD00-213C-55E5-310E58448AA4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</p:spTree>
    <p:extLst>
      <p:ext uri="{BB962C8B-B14F-4D97-AF65-F5344CB8AC3E}">
        <p14:creationId xmlns:p14="http://schemas.microsoft.com/office/powerpoint/2010/main" val="1513593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1B0D-2B23-E553-7A68-5EC2B874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DCAEAE4-B9D8-3CBB-D28D-4DABFD28F28B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4B2C7D-04C5-26E2-C9DD-25A333DDE957}"/>
              </a:ext>
            </a:extLst>
          </p:cNvPr>
          <p:cNvSpPr txBox="1"/>
          <p:nvPr/>
        </p:nvSpPr>
        <p:spPr>
          <a:xfrm>
            <a:off x="453494" y="870500"/>
            <a:ext cx="10062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🚧 </a:t>
            </a:r>
            <a:r>
              <a:rPr lang="fr-CH" sz="2400" b="1" dirty="0"/>
              <a:t>Difficultés rencontrées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3F89B1-3851-232C-622C-1FD5339F9D77}"/>
              </a:ext>
            </a:extLst>
          </p:cNvPr>
          <p:cNvSpPr txBox="1"/>
          <p:nvPr/>
        </p:nvSpPr>
        <p:spPr>
          <a:xfrm>
            <a:off x="350780" y="1936889"/>
            <a:ext cx="1149043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b="1" dirty="0"/>
              <a:t>Hétérogénéité et instabilité des capteurs du smartphone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Les smartphones ne sont pas des instruments scientifiques.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IMU (</a:t>
            </a:r>
            <a:r>
              <a:rPr lang="fr-CH" sz="2000" dirty="0"/>
              <a:t>unité de mesure inertielle)</a:t>
            </a:r>
            <a:r>
              <a:rPr lang="fr-CH" sz="2000" dirty="0">
                <a:effectLst/>
              </a:rPr>
              <a:t> bruitées</a:t>
            </a:r>
            <a:r>
              <a:rPr lang="fr-CH" sz="2000" dirty="0"/>
              <a:t>, </a:t>
            </a:r>
            <a:r>
              <a:rPr lang="fr-CH" sz="2000" dirty="0">
                <a:effectLst/>
              </a:rPr>
              <a:t>angles d’Euler discontinus</a:t>
            </a:r>
            <a:r>
              <a:rPr lang="fr-CH" sz="2000" dirty="0"/>
              <a:t>, </a:t>
            </a:r>
            <a:r>
              <a:rPr lang="fr-CH" sz="2000" dirty="0">
                <a:effectLst/>
              </a:rPr>
              <a:t>valeurs dépendantes de l’orientation physique du téléphone.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Variations possibles modèles (Android vs iPhone, marques, générations)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fr-CH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b="1" dirty="0"/>
              <a:t>Temps réel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Le temps réel n’est jamais “simple” : latence variable, pertes de paquets, reconnections intempestives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/>
              <a:t>Débit limité (4G/5G), messages pouvant arriver dans un ordre différent de l’envoi.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/>
              <a:t>Visualisation en continue de tous les widgets.</a:t>
            </a:r>
          </a:p>
        </p:txBody>
      </p:sp>
      <p:pic>
        <p:nvPicPr>
          <p:cNvPr id="3074" name="Picture 2" descr="Prévenir et traiter les difficultés des entreprises ・ CAPEB">
            <a:extLst>
              <a:ext uri="{FF2B5EF4-FFF2-40B4-BE49-F238E27FC236}">
                <a16:creationId xmlns:a16="http://schemas.microsoft.com/office/drawing/2014/main" id="{4608C5F6-C422-87A4-14AF-553B6CC827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6" t="36224" r="56982" b="-11781"/>
          <a:stretch>
            <a:fillRect/>
          </a:stretch>
        </p:blipFill>
        <p:spPr bwMode="auto">
          <a:xfrm>
            <a:off x="10101383" y="167408"/>
            <a:ext cx="1929253" cy="2498543"/>
          </a:xfrm>
          <a:prstGeom prst="chord">
            <a:avLst>
              <a:gd name="adj1" fmla="val 20280918"/>
              <a:gd name="adj2" fmla="val 16200000"/>
            </a:avLst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842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EDA18-5656-95A8-1B41-0AA739E9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05C6BA8-F469-ED93-164C-F4BC97F7BC7D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8D9F07B-B263-DB39-3993-E11A5C73B762}"/>
              </a:ext>
            </a:extLst>
          </p:cNvPr>
          <p:cNvSpPr txBox="1"/>
          <p:nvPr/>
        </p:nvSpPr>
        <p:spPr>
          <a:xfrm>
            <a:off x="453494" y="870500"/>
            <a:ext cx="10062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🌟 </a:t>
            </a:r>
            <a:r>
              <a:rPr lang="fr-CH" sz="2400" b="1" dirty="0"/>
              <a:t>Points positifs du projet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1727848-B332-6635-4992-E8BF52577AEE}"/>
              </a:ext>
            </a:extLst>
          </p:cNvPr>
          <p:cNvSpPr txBox="1"/>
          <p:nvPr/>
        </p:nvSpPr>
        <p:spPr>
          <a:xfrm>
            <a:off x="236693" y="1720905"/>
            <a:ext cx="546455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effectLst/>
              </a:rPr>
              <a:t>🧠 JavaScript en pratique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DOM, événements, Canvas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Web Audio API, WebRTC, WebSocket</a:t>
            </a:r>
            <a:endParaRPr lang="fr-CH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Projet cockpit‑</a:t>
            </a:r>
            <a:r>
              <a:rPr lang="fr-CH" sz="2000" dirty="0" err="1">
                <a:effectLst/>
              </a:rPr>
              <a:t>driven</a:t>
            </a:r>
            <a:r>
              <a:rPr lang="fr-CH" sz="2000" dirty="0">
                <a:effectLst/>
              </a:rPr>
              <a:t> modulaire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Interfaces dynamiques et interactives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72D01AC-813B-4169-B130-B2F039DC55E9}"/>
              </a:ext>
            </a:extLst>
          </p:cNvPr>
          <p:cNvSpPr txBox="1"/>
          <p:nvPr/>
        </p:nvSpPr>
        <p:spPr>
          <a:xfrm>
            <a:off x="5578163" y="1720905"/>
            <a:ext cx="661383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effectLst/>
              </a:rPr>
              <a:t>🚀 Technologies explorées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WebSocket : bidirectionnel, robuste, capteurs en temps réel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WebRTC : streaming vidéo, ICE, négociation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Node.js : backend léger, WebSocket intégré</a:t>
            </a:r>
            <a:endParaRPr lang="fr-CH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CH" sz="2000" dirty="0">
                <a:effectLst/>
              </a:rPr>
              <a:t>Render.com : déploiement cloud, </a:t>
            </a:r>
            <a:r>
              <a:rPr lang="fr-CH" sz="2000" dirty="0" err="1">
                <a:effectLst/>
              </a:rPr>
              <a:t>scaling</a:t>
            </a:r>
            <a:r>
              <a:rPr lang="fr-CH" sz="2000" dirty="0">
                <a:effectLst/>
              </a:rPr>
              <a:t> automatique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A0AE532-5C7D-5CED-8C71-230A5F1F999E}"/>
              </a:ext>
            </a:extLst>
          </p:cNvPr>
          <p:cNvSpPr txBox="1"/>
          <p:nvPr/>
        </p:nvSpPr>
        <p:spPr>
          <a:xfrm>
            <a:off x="236693" y="4051029"/>
            <a:ext cx="546455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effectLst/>
              </a:rPr>
              <a:t>🤝 Collaboration efficace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sz="2000" dirty="0">
                <a:effectLst/>
              </a:rPr>
              <a:t> Répartition claire des rôles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sz="2000" dirty="0">
                <a:effectLst/>
              </a:rPr>
              <a:t> Intégration UI, réseau, capteurs, backend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sz="2000" dirty="0">
                <a:effectLst/>
              </a:rPr>
              <a:t> Communication fluide et régulière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sz="2000" dirty="0">
                <a:effectLst/>
              </a:rPr>
              <a:t> Travail sur un projet complexe multi‑modules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FCDB92-F696-3333-2967-A330FBF3E6F0}"/>
              </a:ext>
            </a:extLst>
          </p:cNvPr>
          <p:cNvSpPr txBox="1"/>
          <p:nvPr/>
        </p:nvSpPr>
        <p:spPr>
          <a:xfrm>
            <a:off x="5578164" y="4051029"/>
            <a:ext cx="661383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🛠️ </a:t>
            </a:r>
            <a:r>
              <a:rPr lang="fr-CH" sz="2400" b="1" dirty="0"/>
              <a:t>Approche cockpit‑</a:t>
            </a:r>
            <a:r>
              <a:rPr lang="fr-CH" sz="2400" b="1" dirty="0" err="1"/>
              <a:t>driven</a:t>
            </a:r>
            <a:endParaRPr lang="fr-CH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Widgets indépendants</a:t>
            </a:r>
            <a:endParaRPr lang="fr-FR" alt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 interne simple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Code clair, documenté, maintenable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Séparation des responsabilités : acquisition, transport, traitement, visualisation</a:t>
            </a:r>
          </a:p>
        </p:txBody>
      </p:sp>
    </p:spTree>
    <p:extLst>
      <p:ext uri="{BB962C8B-B14F-4D97-AF65-F5344CB8AC3E}">
        <p14:creationId xmlns:p14="http://schemas.microsoft.com/office/powerpoint/2010/main" val="261682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F3B2-1806-8FD2-95C8-77BB6193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727 100+ Progression Stock Illustrations, graphiques vectoriels libre de  droits et Clip Art - iStock | Croissance, Evolution, Flèche">
            <a:extLst>
              <a:ext uri="{FF2B5EF4-FFF2-40B4-BE49-F238E27FC236}">
                <a16:creationId xmlns:a16="http://schemas.microsoft.com/office/drawing/2014/main" id="{F1AC5443-EF5F-9F3B-4BB9-9776940D1C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70" t="23224" r="16776" b="24488"/>
          <a:stretch>
            <a:fillRect/>
          </a:stretch>
        </p:blipFill>
        <p:spPr bwMode="auto">
          <a:xfrm>
            <a:off x="8481848" y="3139006"/>
            <a:ext cx="3326115" cy="28484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CB5A18A-EC49-39DD-5997-CB93F495AEEA}"/>
              </a:ext>
            </a:extLst>
          </p:cNvPr>
          <p:cNvSpPr txBox="1"/>
          <p:nvPr/>
        </p:nvSpPr>
        <p:spPr>
          <a:xfrm>
            <a:off x="453494" y="870500"/>
            <a:ext cx="10062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/>
              <a:t>Perspectives d’évolution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25492F-2021-6352-249B-1E2D77AEE164}"/>
              </a:ext>
            </a:extLst>
          </p:cNvPr>
          <p:cNvSpPr txBox="1"/>
          <p:nvPr/>
        </p:nvSpPr>
        <p:spPr>
          <a:xfrm>
            <a:off x="384037" y="1594131"/>
            <a:ext cx="10541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Amélioration du flux de données (</a:t>
            </a:r>
            <a:r>
              <a:rPr lang="fr-CH" sz="2400" dirty="0" err="1"/>
              <a:t>multi-threading</a:t>
            </a:r>
            <a:r>
              <a:rPr lang="fr-CH" sz="2400" dirty="0"/>
              <a:t> ?)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Plus de widgets/capteurs (ex. accéléromètre)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Plus d’interactions avec les widgets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Multi-utilisateur simultané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Mode hors‑ligne / reprise automatique après coupure réseau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CH" sz="2400" dirty="0"/>
              <a:t>Historique des données (replay, graphiques, </a:t>
            </a:r>
            <a:r>
              <a:rPr lang="fr-CH" sz="2400" dirty="0" err="1"/>
              <a:t>heatmaps</a:t>
            </a:r>
            <a:r>
              <a:rPr lang="fr-CH" sz="2400" dirty="0"/>
              <a:t>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3B5DD11-124E-EA38-82D8-B70345546169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</p:spTree>
    <p:extLst>
      <p:ext uri="{BB962C8B-B14F-4D97-AF65-F5344CB8AC3E}">
        <p14:creationId xmlns:p14="http://schemas.microsoft.com/office/powerpoint/2010/main" val="307434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5C29-1A3E-EA9E-6BB9-307FB706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Question Mark Response - Free image on Pixabay - Pixabay">
            <a:extLst>
              <a:ext uri="{FF2B5EF4-FFF2-40B4-BE49-F238E27FC236}">
                <a16:creationId xmlns:a16="http://schemas.microsoft.com/office/drawing/2014/main" id="{5A293372-38A4-80DA-3E46-CA3E35D085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4643" r="20911" b="6816"/>
          <a:stretch>
            <a:fillRect/>
          </a:stretch>
        </p:blipFill>
        <p:spPr bwMode="auto">
          <a:xfrm>
            <a:off x="9654208" y="2980489"/>
            <a:ext cx="207396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8FF674A-26F0-8447-291E-454297AE80DA}"/>
              </a:ext>
            </a:extLst>
          </p:cNvPr>
          <p:cNvSpPr txBox="1"/>
          <p:nvPr/>
        </p:nvSpPr>
        <p:spPr>
          <a:xfrm>
            <a:off x="1172969" y="1321294"/>
            <a:ext cx="98460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/>
              <a:t>Merci pour votre écoute !</a:t>
            </a:r>
            <a:br>
              <a:rPr lang="fr-FR" sz="4400" b="1" dirty="0"/>
            </a:br>
            <a:r>
              <a:rPr lang="fr-FR" sz="4400" b="1" dirty="0"/>
              <a:t>A disposition pour vos questions</a:t>
            </a:r>
            <a:endParaRPr lang="fr-CH" sz="44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B35B95-6803-94D9-CE1A-DE5B55AE28B8}"/>
              </a:ext>
            </a:extLst>
          </p:cNvPr>
          <p:cNvSpPr txBox="1"/>
          <p:nvPr/>
        </p:nvSpPr>
        <p:spPr>
          <a:xfrm>
            <a:off x="8032750" y="6204155"/>
            <a:ext cx="4031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400" dirty="0"/>
              <a:t>CAS-DAW Projet JavaScript</a:t>
            </a:r>
            <a:br>
              <a:rPr lang="fr-CH" sz="1400" dirty="0"/>
            </a:br>
            <a:r>
              <a:rPr lang="fr-CH" sz="1400" dirty="0"/>
              <a:t>15.01.2026</a:t>
            </a:r>
          </a:p>
        </p:txBody>
      </p:sp>
    </p:spTree>
    <p:extLst>
      <p:ext uri="{BB962C8B-B14F-4D97-AF65-F5344CB8AC3E}">
        <p14:creationId xmlns:p14="http://schemas.microsoft.com/office/powerpoint/2010/main" val="4987356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Microsoft Office PowerPoint</Application>
  <PresentationFormat>Grand écran</PresentationFormat>
  <Paragraphs>198</Paragraphs>
  <Slides>12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Meiryo</vt:lpstr>
      <vt:lpstr>Aptos</vt:lpstr>
      <vt:lpstr>Aptos Display</vt:lpstr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marco Dolci</dc:creator>
  <cp:lastModifiedBy>Marco Dolci</cp:lastModifiedBy>
  <cp:revision>146</cp:revision>
  <dcterms:created xsi:type="dcterms:W3CDTF">2025-03-19T08:47:36Z</dcterms:created>
  <dcterms:modified xsi:type="dcterms:W3CDTF">2026-01-14T08:14:11Z</dcterms:modified>
</cp:coreProperties>
</file>