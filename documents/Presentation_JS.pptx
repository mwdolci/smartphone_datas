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537"/>
    <a:srgbClr val="10B3F0"/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65" autoAdjust="0"/>
    <p:restoredTop sz="73757" autoAdjust="0"/>
  </p:normalViewPr>
  <p:slideViewPr>
    <p:cSldViewPr snapToGrid="0">
      <p:cViewPr varScale="1">
        <p:scale>
          <a:sx n="61" d="100"/>
          <a:sy n="61" d="100"/>
        </p:scale>
        <p:origin x="1152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Pouvoir centraliser et visualiser toutes les données du smartphone d’une personne qui se trouverai dans une situation extrême. (impossible de l’accompagner)</a:t>
            </a:r>
            <a:endParaRPr lang="fr-CH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Le POURQUOI du projet! 4 cas concrets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pilote de moto que je ne vois que 10 secondes sur 3minutes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parapentiste remorqué que je ne retrouve plus une fois atterri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skipper parti en mer pendant plusieurs semaines sans nouvelle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skieur que je souhaite retrouver pour partager un verre à la buvette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WebSocket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</a:t>
            </a:r>
          </a:p>
          <a:p>
            <a:r>
              <a:rPr lang="fr-CH" dirty="0">
                <a:effectLst/>
              </a:rPr>
              <a:t>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</a:t>
            </a:r>
          </a:p>
          <a:p>
            <a:r>
              <a:rPr lang="fr-CH" dirty="0">
                <a:effectLst/>
              </a:rPr>
              <a:t>qui les affiche en temps réel sous forme de widgets visuels.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Certain widgets utilisent des API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flux vidéo passe par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(peu de latence)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contient la documentation du projet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Ce schéma illustre le flux global des données.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Les composants techniques (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Render.com) seront expliqués en détail dans la section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/>
              <a:t>Points positifs du projet</a:t>
            </a:r>
            <a:r>
              <a:rPr lang="fr-CH" dirty="0">
                <a:effectLst/>
              </a:rPr>
              <a:t>.</a:t>
            </a:r>
          </a:p>
          <a:p>
            <a:endParaRPr lang="fr-CH" b="1" dirty="0">
              <a:effectLst/>
            </a:endParaRPr>
          </a:p>
          <a:p>
            <a:r>
              <a:rPr lang="fr-CH" dirty="0"/>
              <a:t>Le projet utilise également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JavaScript</a:t>
            </a:r>
            <a:r>
              <a:rPr lang="fr-CH" dirty="0">
                <a:effectLst/>
              </a:rPr>
              <a:t> : langage principal pour le traitement des données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et l’interaction en temps réel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HTML5 / CSS3</a:t>
            </a:r>
            <a:r>
              <a:rPr lang="fr-CH" dirty="0">
                <a:effectLst/>
              </a:rPr>
              <a:t> : structure et mise en forme de l’interface web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 / GitHub</a:t>
            </a:r>
            <a:r>
              <a:rPr lang="fr-CH" dirty="0">
                <a:effectLst/>
              </a:rPr>
              <a:t> : gestion du code, </a:t>
            </a:r>
            <a:r>
              <a:rPr lang="fr-CH" dirty="0" err="1">
                <a:effectLst/>
              </a:rPr>
              <a:t>versionnement</a:t>
            </a:r>
            <a:r>
              <a:rPr lang="fr-CH" dirty="0">
                <a:effectLst/>
              </a:rPr>
              <a:t> et collaboration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GitHub Pages</a:t>
            </a:r>
            <a:r>
              <a:rPr lang="fr-CH" dirty="0">
                <a:effectLst/>
              </a:rPr>
              <a:t> : hébergement gratuit du cockpit en ligne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Smartphone Android</a:t>
            </a:r>
            <a:r>
              <a:rPr lang="fr-CH" dirty="0">
                <a:effectLst/>
              </a:rPr>
              <a:t> : source des capteurs (GPS, gyroscope, etc.)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accessibles via navigateur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1" dirty="0">
              <a:effectLst/>
            </a:endParaRPr>
          </a:p>
          <a:p>
            <a:r>
              <a:rPr lang="fr-CH" b="0" dirty="0">
                <a:effectLst/>
              </a:rPr>
              <a:t>    </a:t>
            </a:r>
            <a:r>
              <a:rPr lang="fr-CH" dirty="0">
                <a:effectLst/>
              </a:rPr>
              <a:t>Voici le widget boussole: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Il utilise les angles d’Euler (alpha, beta, gamma) </a:t>
            </a:r>
          </a:p>
          <a:p>
            <a:r>
              <a:rPr lang="fr-CH" dirty="0">
                <a:effectLst/>
              </a:rPr>
              <a:t>       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On applique un filtre LPF et une interpolation </a:t>
            </a:r>
          </a:p>
          <a:p>
            <a:r>
              <a:rPr lang="fr-CH" dirty="0">
                <a:effectLst/>
              </a:rPr>
              <a:t>       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carte utilise Leaflet: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À chaque position GPS reçue, on met à jour le marqueur </a:t>
            </a:r>
          </a:p>
          <a:p>
            <a:r>
              <a:rPr lang="fr-CH" dirty="0">
                <a:effectLst/>
              </a:rPr>
              <a:t>        et on trace le chemin parcouru.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On peut aussi recentrer la carte ou réinitialiser le tracé. </a:t>
            </a:r>
          </a:p>
          <a:p>
            <a:r>
              <a:rPr lang="fr-CH" dirty="0">
                <a:effectLst/>
              </a:rPr>
              <a:t>       C’est utile pour suivre un déplacement en montagne ou en mer.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horloge:</a:t>
            </a:r>
          </a:p>
          <a:p>
            <a:r>
              <a:rPr lang="fr-CH" dirty="0">
                <a:effectLst/>
              </a:rPr>
              <a:t>        </a:t>
            </a:r>
          </a:p>
          <a:p>
            <a:r>
              <a:rPr lang="fr-CH" dirty="0">
                <a:effectLst/>
              </a:rPr>
              <a:t>        Reçoit l’heure locale du smartphone et l’affiche en temps réel. </a:t>
            </a:r>
          </a:p>
          <a:p>
            <a:r>
              <a:rPr lang="fr-CH" dirty="0">
                <a:effectLst/>
              </a:rPr>
              <a:t>        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        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WebSocket, WebRTC,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14.01.2026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944979" y="4013217"/>
            <a:ext cx="7119201" cy="188443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11" y="1701968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167" y="219919"/>
            <a:ext cx="2859014" cy="6245846"/>
          </a:xfrm>
          <a:prstGeom prst="rect">
            <a:avLst/>
          </a:prstGeom>
          <a:ln w="38100" cap="flat">
            <a:solidFill>
              <a:schemeClr val="tx1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2859014"/>
                      <a:gd name="connsiteY0" fmla="*/ 0 h 6245846"/>
                      <a:gd name="connsiteX1" fmla="*/ 600393 w 2859014"/>
                      <a:gd name="connsiteY1" fmla="*/ 0 h 6245846"/>
                      <a:gd name="connsiteX2" fmla="*/ 1229376 w 2859014"/>
                      <a:gd name="connsiteY2" fmla="*/ 0 h 6245846"/>
                      <a:gd name="connsiteX3" fmla="*/ 1743999 w 2859014"/>
                      <a:gd name="connsiteY3" fmla="*/ 0 h 6245846"/>
                      <a:gd name="connsiteX4" fmla="*/ 2344391 w 2859014"/>
                      <a:gd name="connsiteY4" fmla="*/ 0 h 6245846"/>
                      <a:gd name="connsiteX5" fmla="*/ 2859014 w 2859014"/>
                      <a:gd name="connsiteY5" fmla="*/ 0 h 6245846"/>
                      <a:gd name="connsiteX6" fmla="*/ 2859014 w 2859014"/>
                      <a:gd name="connsiteY6" fmla="*/ 567804 h 6245846"/>
                      <a:gd name="connsiteX7" fmla="*/ 2859014 w 2859014"/>
                      <a:gd name="connsiteY7" fmla="*/ 1135608 h 6245846"/>
                      <a:gd name="connsiteX8" fmla="*/ 2859014 w 2859014"/>
                      <a:gd name="connsiteY8" fmla="*/ 1578496 h 6245846"/>
                      <a:gd name="connsiteX9" fmla="*/ 2859014 w 2859014"/>
                      <a:gd name="connsiteY9" fmla="*/ 2271217 h 6245846"/>
                      <a:gd name="connsiteX10" fmla="*/ 2859014 w 2859014"/>
                      <a:gd name="connsiteY10" fmla="*/ 2839021 h 6245846"/>
                      <a:gd name="connsiteX11" fmla="*/ 2859014 w 2859014"/>
                      <a:gd name="connsiteY11" fmla="*/ 3531742 h 6245846"/>
                      <a:gd name="connsiteX12" fmla="*/ 2859014 w 2859014"/>
                      <a:gd name="connsiteY12" fmla="*/ 4162005 h 6245846"/>
                      <a:gd name="connsiteX13" fmla="*/ 2859014 w 2859014"/>
                      <a:gd name="connsiteY13" fmla="*/ 4667350 h 6245846"/>
                      <a:gd name="connsiteX14" fmla="*/ 2859014 w 2859014"/>
                      <a:gd name="connsiteY14" fmla="*/ 5297613 h 6245846"/>
                      <a:gd name="connsiteX15" fmla="*/ 2859014 w 2859014"/>
                      <a:gd name="connsiteY15" fmla="*/ 5740500 h 6245846"/>
                      <a:gd name="connsiteX16" fmla="*/ 2859014 w 2859014"/>
                      <a:gd name="connsiteY16" fmla="*/ 6245846 h 6245846"/>
                      <a:gd name="connsiteX17" fmla="*/ 2372982 w 2859014"/>
                      <a:gd name="connsiteY17" fmla="*/ 6245846 h 6245846"/>
                      <a:gd name="connsiteX18" fmla="*/ 1743999 w 2859014"/>
                      <a:gd name="connsiteY18" fmla="*/ 6245846 h 6245846"/>
                      <a:gd name="connsiteX19" fmla="*/ 1143606 w 2859014"/>
                      <a:gd name="connsiteY19" fmla="*/ 6245846 h 6245846"/>
                      <a:gd name="connsiteX20" fmla="*/ 543213 w 2859014"/>
                      <a:gd name="connsiteY20" fmla="*/ 6245846 h 6245846"/>
                      <a:gd name="connsiteX21" fmla="*/ 0 w 2859014"/>
                      <a:gd name="connsiteY21" fmla="*/ 6245846 h 6245846"/>
                      <a:gd name="connsiteX22" fmla="*/ 0 w 2859014"/>
                      <a:gd name="connsiteY22" fmla="*/ 5802959 h 6245846"/>
                      <a:gd name="connsiteX23" fmla="*/ 0 w 2859014"/>
                      <a:gd name="connsiteY23" fmla="*/ 5235155 h 6245846"/>
                      <a:gd name="connsiteX24" fmla="*/ 0 w 2859014"/>
                      <a:gd name="connsiteY24" fmla="*/ 4667350 h 6245846"/>
                      <a:gd name="connsiteX25" fmla="*/ 0 w 2859014"/>
                      <a:gd name="connsiteY25" fmla="*/ 4286922 h 6245846"/>
                      <a:gd name="connsiteX26" fmla="*/ 0 w 2859014"/>
                      <a:gd name="connsiteY26" fmla="*/ 3656659 h 6245846"/>
                      <a:gd name="connsiteX27" fmla="*/ 0 w 2859014"/>
                      <a:gd name="connsiteY27" fmla="*/ 3276230 h 6245846"/>
                      <a:gd name="connsiteX28" fmla="*/ 0 w 2859014"/>
                      <a:gd name="connsiteY28" fmla="*/ 2708426 h 6245846"/>
                      <a:gd name="connsiteX29" fmla="*/ 0 w 2859014"/>
                      <a:gd name="connsiteY29" fmla="*/ 2015705 h 6245846"/>
                      <a:gd name="connsiteX30" fmla="*/ 0 w 2859014"/>
                      <a:gd name="connsiteY30" fmla="*/ 1322984 h 6245846"/>
                      <a:gd name="connsiteX31" fmla="*/ 0 w 2859014"/>
                      <a:gd name="connsiteY31" fmla="*/ 692721 h 6245846"/>
                      <a:gd name="connsiteX32" fmla="*/ 0 w 2859014"/>
                      <a:gd name="connsiteY32" fmla="*/ 0 h 6245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2859014" h="6245846" fill="none" extrusionOk="0">
                        <a:moveTo>
                          <a:pt x="0" y="0"/>
                        </a:moveTo>
                        <a:cubicBezTo>
                          <a:pt x="195464" y="-5179"/>
                          <a:pt x="330210" y="68801"/>
                          <a:pt x="600393" y="0"/>
                        </a:cubicBezTo>
                        <a:cubicBezTo>
                          <a:pt x="870576" y="-68801"/>
                          <a:pt x="1071126" y="39031"/>
                          <a:pt x="1229376" y="0"/>
                        </a:cubicBezTo>
                        <a:cubicBezTo>
                          <a:pt x="1387626" y="-39031"/>
                          <a:pt x="1498341" y="13406"/>
                          <a:pt x="1743999" y="0"/>
                        </a:cubicBezTo>
                        <a:cubicBezTo>
                          <a:pt x="1989657" y="-13406"/>
                          <a:pt x="2206595" y="18368"/>
                          <a:pt x="2344391" y="0"/>
                        </a:cubicBezTo>
                        <a:cubicBezTo>
                          <a:pt x="2482187" y="-18368"/>
                          <a:pt x="2669934" y="25982"/>
                          <a:pt x="2859014" y="0"/>
                        </a:cubicBezTo>
                        <a:cubicBezTo>
                          <a:pt x="2914274" y="125524"/>
                          <a:pt x="2828301" y="304798"/>
                          <a:pt x="2859014" y="567804"/>
                        </a:cubicBezTo>
                        <a:cubicBezTo>
                          <a:pt x="2889727" y="830810"/>
                          <a:pt x="2816177" y="963026"/>
                          <a:pt x="2859014" y="1135608"/>
                        </a:cubicBezTo>
                        <a:cubicBezTo>
                          <a:pt x="2901851" y="1308190"/>
                          <a:pt x="2834473" y="1416384"/>
                          <a:pt x="2859014" y="1578496"/>
                        </a:cubicBezTo>
                        <a:cubicBezTo>
                          <a:pt x="2883555" y="1740608"/>
                          <a:pt x="2818505" y="2030242"/>
                          <a:pt x="2859014" y="2271217"/>
                        </a:cubicBezTo>
                        <a:cubicBezTo>
                          <a:pt x="2899523" y="2512192"/>
                          <a:pt x="2829599" y="2694132"/>
                          <a:pt x="2859014" y="2839021"/>
                        </a:cubicBezTo>
                        <a:cubicBezTo>
                          <a:pt x="2888429" y="2983910"/>
                          <a:pt x="2815693" y="3384485"/>
                          <a:pt x="2859014" y="3531742"/>
                        </a:cubicBezTo>
                        <a:cubicBezTo>
                          <a:pt x="2902335" y="3678999"/>
                          <a:pt x="2838474" y="3913554"/>
                          <a:pt x="2859014" y="4162005"/>
                        </a:cubicBezTo>
                        <a:cubicBezTo>
                          <a:pt x="2879554" y="4410456"/>
                          <a:pt x="2804011" y="4508055"/>
                          <a:pt x="2859014" y="4667350"/>
                        </a:cubicBezTo>
                        <a:cubicBezTo>
                          <a:pt x="2914017" y="4826645"/>
                          <a:pt x="2794415" y="5010814"/>
                          <a:pt x="2859014" y="5297613"/>
                        </a:cubicBezTo>
                        <a:cubicBezTo>
                          <a:pt x="2923613" y="5584412"/>
                          <a:pt x="2847934" y="5595390"/>
                          <a:pt x="2859014" y="5740500"/>
                        </a:cubicBezTo>
                        <a:cubicBezTo>
                          <a:pt x="2870094" y="5885610"/>
                          <a:pt x="2857224" y="6006817"/>
                          <a:pt x="2859014" y="6245846"/>
                        </a:cubicBezTo>
                        <a:cubicBezTo>
                          <a:pt x="2697176" y="6253543"/>
                          <a:pt x="2486369" y="6230001"/>
                          <a:pt x="2372982" y="6245846"/>
                        </a:cubicBezTo>
                        <a:cubicBezTo>
                          <a:pt x="2259595" y="6261691"/>
                          <a:pt x="2040178" y="6242720"/>
                          <a:pt x="1743999" y="6245846"/>
                        </a:cubicBezTo>
                        <a:cubicBezTo>
                          <a:pt x="1447820" y="6248972"/>
                          <a:pt x="1394859" y="6175923"/>
                          <a:pt x="1143606" y="6245846"/>
                        </a:cubicBezTo>
                        <a:cubicBezTo>
                          <a:pt x="892353" y="6315769"/>
                          <a:pt x="790000" y="6205537"/>
                          <a:pt x="543213" y="6245846"/>
                        </a:cubicBezTo>
                        <a:cubicBezTo>
                          <a:pt x="296426" y="6286155"/>
                          <a:pt x="251301" y="6208525"/>
                          <a:pt x="0" y="6245846"/>
                        </a:cubicBezTo>
                        <a:cubicBezTo>
                          <a:pt x="-6869" y="6028839"/>
                          <a:pt x="4976" y="5958266"/>
                          <a:pt x="0" y="5802959"/>
                        </a:cubicBezTo>
                        <a:cubicBezTo>
                          <a:pt x="-4976" y="5647652"/>
                          <a:pt x="33847" y="5450355"/>
                          <a:pt x="0" y="5235155"/>
                        </a:cubicBezTo>
                        <a:cubicBezTo>
                          <a:pt x="-33847" y="5019955"/>
                          <a:pt x="60147" y="4812535"/>
                          <a:pt x="0" y="4667350"/>
                        </a:cubicBezTo>
                        <a:cubicBezTo>
                          <a:pt x="-60147" y="4522165"/>
                          <a:pt x="22996" y="4424726"/>
                          <a:pt x="0" y="4286922"/>
                        </a:cubicBezTo>
                        <a:cubicBezTo>
                          <a:pt x="-22996" y="4149118"/>
                          <a:pt x="35413" y="3806871"/>
                          <a:pt x="0" y="3656659"/>
                        </a:cubicBezTo>
                        <a:cubicBezTo>
                          <a:pt x="-35413" y="3506447"/>
                          <a:pt x="8214" y="3442223"/>
                          <a:pt x="0" y="3276230"/>
                        </a:cubicBezTo>
                        <a:cubicBezTo>
                          <a:pt x="-8214" y="3110237"/>
                          <a:pt x="3046" y="2907822"/>
                          <a:pt x="0" y="2708426"/>
                        </a:cubicBezTo>
                        <a:cubicBezTo>
                          <a:pt x="-3046" y="2509030"/>
                          <a:pt x="26152" y="2259588"/>
                          <a:pt x="0" y="2015705"/>
                        </a:cubicBezTo>
                        <a:cubicBezTo>
                          <a:pt x="-26152" y="1771822"/>
                          <a:pt x="58943" y="1581500"/>
                          <a:pt x="0" y="1322984"/>
                        </a:cubicBezTo>
                        <a:cubicBezTo>
                          <a:pt x="-58943" y="1064468"/>
                          <a:pt x="56767" y="862815"/>
                          <a:pt x="0" y="692721"/>
                        </a:cubicBezTo>
                        <a:cubicBezTo>
                          <a:pt x="-56767" y="522627"/>
                          <a:pt x="8399" y="299064"/>
                          <a:pt x="0" y="0"/>
                        </a:cubicBezTo>
                        <a:close/>
                      </a:path>
                      <a:path w="2859014" h="6245846" stroke="0" extrusionOk="0">
                        <a:moveTo>
                          <a:pt x="0" y="0"/>
                        </a:moveTo>
                        <a:cubicBezTo>
                          <a:pt x="198013" y="-60798"/>
                          <a:pt x="376162" y="1876"/>
                          <a:pt x="543213" y="0"/>
                        </a:cubicBezTo>
                        <a:cubicBezTo>
                          <a:pt x="710264" y="-1876"/>
                          <a:pt x="815481" y="21397"/>
                          <a:pt x="1029245" y="0"/>
                        </a:cubicBezTo>
                        <a:cubicBezTo>
                          <a:pt x="1243009" y="-21397"/>
                          <a:pt x="1357996" y="37258"/>
                          <a:pt x="1658228" y="0"/>
                        </a:cubicBezTo>
                        <a:cubicBezTo>
                          <a:pt x="1958460" y="-37258"/>
                          <a:pt x="2055031" y="64567"/>
                          <a:pt x="2201441" y="0"/>
                        </a:cubicBezTo>
                        <a:cubicBezTo>
                          <a:pt x="2347851" y="-64567"/>
                          <a:pt x="2625944" y="66288"/>
                          <a:pt x="2859014" y="0"/>
                        </a:cubicBezTo>
                        <a:cubicBezTo>
                          <a:pt x="2936731" y="241226"/>
                          <a:pt x="2829462" y="528525"/>
                          <a:pt x="2859014" y="692721"/>
                        </a:cubicBezTo>
                        <a:cubicBezTo>
                          <a:pt x="2888566" y="856917"/>
                          <a:pt x="2824740" y="1065554"/>
                          <a:pt x="2859014" y="1260525"/>
                        </a:cubicBezTo>
                        <a:cubicBezTo>
                          <a:pt x="2893288" y="1455496"/>
                          <a:pt x="2824488" y="1654281"/>
                          <a:pt x="2859014" y="1828329"/>
                        </a:cubicBezTo>
                        <a:cubicBezTo>
                          <a:pt x="2893540" y="2002377"/>
                          <a:pt x="2848216" y="2061983"/>
                          <a:pt x="2859014" y="2271217"/>
                        </a:cubicBezTo>
                        <a:cubicBezTo>
                          <a:pt x="2869812" y="2480451"/>
                          <a:pt x="2846070" y="2503366"/>
                          <a:pt x="2859014" y="2714104"/>
                        </a:cubicBezTo>
                        <a:cubicBezTo>
                          <a:pt x="2871958" y="2924842"/>
                          <a:pt x="2818524" y="3101488"/>
                          <a:pt x="2859014" y="3281908"/>
                        </a:cubicBezTo>
                        <a:cubicBezTo>
                          <a:pt x="2899504" y="3462328"/>
                          <a:pt x="2853635" y="3707209"/>
                          <a:pt x="2859014" y="3912171"/>
                        </a:cubicBezTo>
                        <a:cubicBezTo>
                          <a:pt x="2864393" y="4117133"/>
                          <a:pt x="2841498" y="4202222"/>
                          <a:pt x="2859014" y="4292600"/>
                        </a:cubicBezTo>
                        <a:cubicBezTo>
                          <a:pt x="2876530" y="4382978"/>
                          <a:pt x="2819360" y="4736852"/>
                          <a:pt x="2859014" y="4860404"/>
                        </a:cubicBezTo>
                        <a:cubicBezTo>
                          <a:pt x="2898668" y="4983956"/>
                          <a:pt x="2833481" y="5253920"/>
                          <a:pt x="2859014" y="5428208"/>
                        </a:cubicBezTo>
                        <a:cubicBezTo>
                          <a:pt x="2884547" y="5602496"/>
                          <a:pt x="2786263" y="6079278"/>
                          <a:pt x="2859014" y="6245846"/>
                        </a:cubicBezTo>
                        <a:cubicBezTo>
                          <a:pt x="2575226" y="6299916"/>
                          <a:pt x="2409206" y="6210665"/>
                          <a:pt x="2258621" y="6245846"/>
                        </a:cubicBezTo>
                        <a:cubicBezTo>
                          <a:pt x="2108036" y="6281027"/>
                          <a:pt x="1876485" y="6216564"/>
                          <a:pt x="1686818" y="6245846"/>
                        </a:cubicBezTo>
                        <a:cubicBezTo>
                          <a:pt x="1497151" y="6275128"/>
                          <a:pt x="1332629" y="6196433"/>
                          <a:pt x="1200786" y="6245846"/>
                        </a:cubicBezTo>
                        <a:cubicBezTo>
                          <a:pt x="1068943" y="6295259"/>
                          <a:pt x="927545" y="6198619"/>
                          <a:pt x="686163" y="6245846"/>
                        </a:cubicBezTo>
                        <a:cubicBezTo>
                          <a:pt x="444781" y="6293073"/>
                          <a:pt x="341959" y="6218323"/>
                          <a:pt x="0" y="6245846"/>
                        </a:cubicBezTo>
                        <a:cubicBezTo>
                          <a:pt x="-32214" y="5966334"/>
                          <a:pt x="53065" y="5887230"/>
                          <a:pt x="0" y="5678042"/>
                        </a:cubicBezTo>
                        <a:cubicBezTo>
                          <a:pt x="-53065" y="5468854"/>
                          <a:pt x="19957" y="5311108"/>
                          <a:pt x="0" y="5110238"/>
                        </a:cubicBezTo>
                        <a:cubicBezTo>
                          <a:pt x="-19957" y="4909368"/>
                          <a:pt x="6263" y="4706404"/>
                          <a:pt x="0" y="4604892"/>
                        </a:cubicBezTo>
                        <a:cubicBezTo>
                          <a:pt x="-6263" y="4503380"/>
                          <a:pt x="37699" y="4406714"/>
                          <a:pt x="0" y="4224463"/>
                        </a:cubicBezTo>
                        <a:cubicBezTo>
                          <a:pt x="-37699" y="4042212"/>
                          <a:pt x="7952" y="3929217"/>
                          <a:pt x="0" y="3844034"/>
                        </a:cubicBezTo>
                        <a:cubicBezTo>
                          <a:pt x="-7952" y="3758851"/>
                          <a:pt x="26951" y="3516129"/>
                          <a:pt x="0" y="3213772"/>
                        </a:cubicBezTo>
                        <a:cubicBezTo>
                          <a:pt x="-26951" y="2911415"/>
                          <a:pt x="34606" y="2940686"/>
                          <a:pt x="0" y="2770884"/>
                        </a:cubicBezTo>
                        <a:cubicBezTo>
                          <a:pt x="-34606" y="2601082"/>
                          <a:pt x="23153" y="2386847"/>
                          <a:pt x="0" y="2078163"/>
                        </a:cubicBezTo>
                        <a:cubicBezTo>
                          <a:pt x="-23153" y="1769479"/>
                          <a:pt x="40076" y="1783480"/>
                          <a:pt x="0" y="1572818"/>
                        </a:cubicBezTo>
                        <a:cubicBezTo>
                          <a:pt x="-40076" y="1362157"/>
                          <a:pt x="12280" y="1289881"/>
                          <a:pt x="0" y="1192389"/>
                        </a:cubicBezTo>
                        <a:cubicBezTo>
                          <a:pt x="-12280" y="1094897"/>
                          <a:pt x="53422" y="829183"/>
                          <a:pt x="0" y="562126"/>
                        </a:cubicBezTo>
                        <a:cubicBezTo>
                          <a:pt x="-53422" y="295069"/>
                          <a:pt x="57587" y="24734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220470"/>
            <a:ext cx="2915057" cy="1247949"/>
          </a:xfrm>
          <a:prstGeom prst="rect">
            <a:avLst/>
          </a:prstGeom>
          <a:ln w="38100" cap="flat">
            <a:solidFill>
              <a:srgbClr val="00A537"/>
            </a:solidFill>
            <a:prstDash val="sysDot"/>
          </a:ln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0812" y="226366"/>
            <a:ext cx="3128591" cy="5755653"/>
          </a:xfrm>
          <a:prstGeom prst="rect">
            <a:avLst/>
          </a:prstGeom>
          <a:ln w="38100" cap="flat">
            <a:solidFill>
              <a:srgbClr val="10B3F0"/>
            </a:solidFill>
            <a:prstDash val="sysDot"/>
            <a:round/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5E2E6FC-0CD0-4860-AC80-9E21309692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78" y="2200128"/>
            <a:ext cx="2921897" cy="207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A44BD4D-CBFB-4FFA-848F-30FC5E9949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4851214"/>
            <a:ext cx="2514951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Websocket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WebRTC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50780" y="1936889"/>
            <a:ext cx="11490439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IMU (</a:t>
            </a:r>
            <a:r>
              <a:rPr lang="fr-CH" sz="2000" dirty="0"/>
              <a:t>unité de mesure inertielle)</a:t>
            </a:r>
            <a:r>
              <a:rPr lang="fr-CH" sz="2000" dirty="0">
                <a:effectLst/>
              </a:rPr>
              <a:t>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Variations possibles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 temps réel n’est jamais “simple” : latence variable, pertes de paquets, reconnections intempestives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Débit limité (4G/5G), messages pouvant arriver dans un ordre différent de l’envoi.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Visualisation en continue de tous les widgets.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720905"/>
            <a:ext cx="546455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DOM, événements, Canvas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 Audio API, WebRTC, WebSocket</a:t>
            </a:r>
            <a:endParaRPr lang="fr-CH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Interfaces dynamiques et interactives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578163" y="1720905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WebSocket : bidirectionnel, robuste, capteurs en 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WebRTC : streaming vidéo, ICE, négociation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Node.js : backend léger, WebSocket intégré</a:t>
            </a:r>
            <a:endParaRPr lang="fr-CH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Render.com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A0AE532-5C7D-5CED-8C71-230A5F1F999E}"/>
              </a:ext>
            </a:extLst>
          </p:cNvPr>
          <p:cNvSpPr txBox="1"/>
          <p:nvPr/>
        </p:nvSpPr>
        <p:spPr>
          <a:xfrm>
            <a:off x="236693" y="4051029"/>
            <a:ext cx="546455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Travail sur un projet complexe multi‑modules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FCDB92-F696-3333-2967-A330FBF3E6F0}"/>
              </a:ext>
            </a:extLst>
          </p:cNvPr>
          <p:cNvSpPr txBox="1"/>
          <p:nvPr/>
        </p:nvSpPr>
        <p:spPr>
          <a:xfrm>
            <a:off x="5578164" y="4051029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indépendants</a:t>
            </a:r>
            <a:endParaRPr lang="fr-FR" alt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Séparation des responsabilités : acquisition, transport,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541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Amélioration du flux de données (</a:t>
            </a:r>
            <a:r>
              <a:rPr lang="fr-CH" sz="2400" dirty="0" err="1"/>
              <a:t>multi-threading</a:t>
            </a:r>
            <a:r>
              <a:rPr lang="fr-CH" sz="2400" dirty="0"/>
              <a:t> ?)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de widgets/capteurs (ex. accéléromètre)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Multi-utilisateur simultané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Historique des données (replay, graphiques, </a:t>
            </a:r>
            <a:r>
              <a:rPr lang="fr-CH" sz="2400" dirty="0" err="1"/>
              <a:t>heatmaps</a:t>
            </a:r>
            <a:r>
              <a:rPr lang="fr-CH" sz="2400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/>
              <a:t>Merci pour votre écoute !</a:t>
            </a:r>
            <a:br>
              <a:rPr lang="fr-FR" sz="4400" b="1" dirty="0"/>
            </a:br>
            <a:r>
              <a:rPr lang="fr-FR" sz="4400" b="1" dirty="0"/>
              <a:t>A disposition pour vos questions</a:t>
            </a:r>
            <a:endParaRPr lang="fr-CH" sz="4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1332</Words>
  <Application>Microsoft Office PowerPoint</Application>
  <PresentationFormat>Grand écran</PresentationFormat>
  <Paragraphs>198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Marco Dolci</cp:lastModifiedBy>
  <cp:revision>145</cp:revision>
  <dcterms:created xsi:type="dcterms:W3CDTF">2025-03-19T08:47:36Z</dcterms:created>
  <dcterms:modified xsi:type="dcterms:W3CDTF">2026-01-14T07:17:09Z</dcterms:modified>
</cp:coreProperties>
</file>